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494" r:id="rId2"/>
    <p:sldId id="396" r:id="rId3"/>
    <p:sldId id="654" r:id="rId4"/>
    <p:sldId id="656" r:id="rId5"/>
    <p:sldId id="655" r:id="rId6"/>
    <p:sldId id="589" r:id="rId7"/>
    <p:sldId id="653" r:id="rId8"/>
    <p:sldId id="657" r:id="rId9"/>
    <p:sldId id="664" r:id="rId10"/>
    <p:sldId id="663" r:id="rId11"/>
    <p:sldId id="661" r:id="rId12"/>
    <p:sldId id="662" r:id="rId13"/>
    <p:sldId id="660" r:id="rId14"/>
    <p:sldId id="659" r:id="rId15"/>
    <p:sldId id="658" r:id="rId16"/>
    <p:sldId id="665" r:id="rId17"/>
    <p:sldId id="652" r:id="rId18"/>
    <p:sldId id="588" r:id="rId19"/>
    <p:sldId id="298" r:id="rId20"/>
  </p:sldIdLst>
  <p:sldSz cx="9144000" cy="5143500" type="screen16x9"/>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76" userDrawn="1">
          <p15:clr>
            <a:srgbClr val="A4A3A4"/>
          </p15:clr>
        </p15:guide>
        <p15:guide id="2" pos="302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雪" initials="李"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9A3"/>
    <a:srgbClr val="F57365"/>
    <a:srgbClr val="84CBC3"/>
    <a:srgbClr val="F8D1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6" d="100"/>
          <a:sy n="106" d="100"/>
        </p:scale>
        <p:origin x="593" y="58"/>
      </p:cViewPr>
      <p:guideLst>
        <p:guide orient="horz" pos="1476"/>
        <p:guide pos="3029"/>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035C5D1-AD16-4B01-871F-DE047A6CFB67}" type="datetimeFigureOut">
              <a:rPr lang="zh-CN" altLang="en-US" smtClean="0"/>
              <a:t>2025/12/11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CDE635-3FC4-4B83-A3D1-632FFA341E9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35C5D1-AD16-4B01-871F-DE047A6CFB67}" type="datetimeFigureOut">
              <a:rPr lang="zh-CN" altLang="en-US" smtClean="0"/>
              <a:t>2025/12/11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BCDE635-3FC4-4B83-A3D1-632FFA341E9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35C5D1-AD16-4B01-871F-DE047A6CFB67}" type="datetimeFigureOut">
              <a:rPr lang="zh-CN" altLang="en-US" smtClean="0"/>
              <a:t>2025/12/11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BCDE635-3FC4-4B83-A3D1-632FFA341E9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35C5D1-AD16-4B01-871F-DE047A6CFB67}" type="datetimeFigureOut">
              <a:rPr lang="zh-CN" altLang="en-US" smtClean="0"/>
              <a:t>2025/12/11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BCDE635-3FC4-4B83-A3D1-632FFA341E9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35C5D1-AD16-4B01-871F-DE047A6CFB67}" type="datetimeFigureOut">
              <a:rPr lang="zh-CN" altLang="en-US" smtClean="0"/>
              <a:t>2025/12/11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BCDE635-3FC4-4B83-A3D1-632FFA341E9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35C5D1-AD16-4B01-871F-DE047A6CFB67}" type="datetimeFigureOut">
              <a:rPr lang="zh-CN" altLang="en-US" smtClean="0"/>
              <a:t>2025/12/11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BCDE635-3FC4-4B83-A3D1-632FFA341E9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35C5D1-AD16-4B01-871F-DE047A6CFB67}" type="datetimeFigureOut">
              <a:rPr lang="zh-CN" altLang="en-US" smtClean="0"/>
              <a:t>2025/12/11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BCDE635-3FC4-4B83-A3D1-632FFA341E9A}" type="slidenum">
              <a:rPr lang="zh-CN" altLang="en-US" smtClean="0"/>
              <a:t>‹#›</a:t>
            </a:fld>
            <a:endParaRPr lang="zh-CN" altLang="en-US"/>
          </a:p>
        </p:txBody>
      </p:sp>
      <p:sp>
        <p:nvSpPr>
          <p:cNvPr id="7" name="矩形 6"/>
          <p:cNvSpPr/>
          <p:nvPr userDrawn="1"/>
        </p:nvSpPr>
        <p:spPr>
          <a:xfrm>
            <a:off x="3845849" y="14453070"/>
            <a:ext cx="966254"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精美</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课件：</a:t>
            </a:r>
            <a:r>
              <a:rPr kumimoji="0" lang="en-US" altLang="zh-CN" sz="100" b="0" i="0" u="none" strike="noStrike" kern="0" cap="none" spc="0" normalizeH="0" baseline="0" noProof="0" dirty="0">
                <a:ln>
                  <a:noFill/>
                </a:ln>
                <a:solidFill>
                  <a:prstClr val="white"/>
                </a:solidFill>
                <a:effectLst/>
                <a:uLnTx/>
                <a:uFillTx/>
              </a:rPr>
              <a:t>www.1ppt.com/kejian/             </a:t>
            </a: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工作总结</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www.1ppt.com/xiazai/zongjie/ </a:t>
            </a:r>
            <a:r>
              <a:rPr kumimoji="0" lang="zh-CN" altLang="en-US" sz="100" b="0" i="0" u="none" strike="noStrike" kern="0" cap="none" spc="0" normalizeH="0" baseline="0" noProof="0" dirty="0">
                <a:ln>
                  <a:noFill/>
                </a:ln>
                <a:solidFill>
                  <a:prstClr val="white"/>
                </a:solidFill>
                <a:effectLst/>
                <a:uLnTx/>
                <a:uFillTx/>
              </a:rPr>
              <a:t>工作计划：</a:t>
            </a:r>
            <a:r>
              <a:rPr kumimoji="0" lang="en-US" altLang="zh-CN" sz="100" b="0" i="0" u="none" strike="noStrike" kern="0" cap="none" spc="0" normalizeH="0" baseline="0" noProof="0" dirty="0">
                <a:ln>
                  <a:noFill/>
                </a:ln>
                <a:solidFill>
                  <a:prstClr val="white"/>
                </a:solidFill>
                <a:effectLst/>
                <a:uLnTx/>
                <a:uFillTx/>
              </a:rPr>
              <a:t>www.1ppt.com/xiazai/jihua/</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商务</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www.1ppt.com/moban/shangwu/  </a:t>
            </a:r>
            <a:r>
              <a:rPr kumimoji="0" lang="zh-CN" altLang="en-US" sz="100" b="0" i="0" u="none" strike="noStrike" kern="0" cap="none" spc="0" normalizeH="0" baseline="0" noProof="0" dirty="0">
                <a:ln>
                  <a:noFill/>
                </a:ln>
                <a:solidFill>
                  <a:prstClr val="white"/>
                </a:solidFill>
                <a:effectLst/>
                <a:uLnTx/>
                <a:uFillTx/>
              </a:rPr>
              <a:t>个人简历</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www.1ppt.com/xiazai/jianli/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毕业答辩</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www.1ppt.com/xiazai/dabian/  </a:t>
            </a:r>
            <a:r>
              <a:rPr kumimoji="0" lang="zh-CN" altLang="en-US" sz="100" b="0" i="0" u="none" strike="noStrike" kern="0" cap="none" spc="0" normalizeH="0" baseline="0" noProof="0" dirty="0">
                <a:ln>
                  <a:noFill/>
                </a:ln>
                <a:solidFill>
                  <a:prstClr val="white"/>
                </a:solidFill>
                <a:effectLst/>
                <a:uLnTx/>
                <a:uFillTx/>
              </a:rPr>
              <a:t>工作汇报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a:t>
            </a:r>
            <a:r>
              <a:rPr kumimoji="0" lang="en-US" altLang="zh-CN" sz="100" b="0" i="0" u="none" strike="noStrike" kern="0" cap="none" spc="0" normalizeH="0" baseline="0" noProof="0" dirty="0">
                <a:ln>
                  <a:noFill/>
                </a:ln>
                <a:solidFill>
                  <a:prstClr val="white"/>
                </a:solidFill>
                <a:effectLst/>
                <a:uLnTx/>
                <a:uFillTx/>
              </a:rPr>
              <a:t>www.1ppt.com/xiazai/huibao/    </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8035C5D1-AD16-4B01-871F-DE047A6CFB67}" type="datetimeFigureOut">
              <a:rPr lang="zh-CN" altLang="en-US" smtClean="0"/>
              <a:t>2025/12/11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BCDE635-3FC4-4B83-A3D1-632FFA341E9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paperswithcode.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blog.csdn.net/qq_39412702/article/details/10484332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blog.csdn.net/ming12131342/article/details/140233867"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image" Target="../media/image20.jpeg"/><Relationship Id="rId3" Type="http://schemas.openxmlformats.org/officeDocument/2006/relationships/image" Target="../media/image10.jpeg"/><Relationship Id="rId7" Type="http://schemas.openxmlformats.org/officeDocument/2006/relationships/image" Target="../media/image14.jpeg"/><Relationship Id="rId12"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jpeg"/><Relationship Id="rId11" Type="http://schemas.openxmlformats.org/officeDocument/2006/relationships/image" Target="../media/image18.jpeg"/><Relationship Id="rId5" Type="http://schemas.openxmlformats.org/officeDocument/2006/relationships/image" Target="../media/image12.jpeg"/><Relationship Id="rId15" Type="http://schemas.openxmlformats.org/officeDocument/2006/relationships/image" Target="../media/image22.png"/><Relationship Id="rId10" Type="http://schemas.openxmlformats.org/officeDocument/2006/relationships/image" Target="../media/image17.jpeg"/><Relationship Id="rId4" Type="http://schemas.openxmlformats.org/officeDocument/2006/relationships/image" Target="../media/image11.jpeg"/><Relationship Id="rId9" Type="http://schemas.openxmlformats.org/officeDocument/2006/relationships/image" Target="../media/image16.jpeg"/><Relationship Id="rId14"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6"/>
          <p:cNvSpPr>
            <a:spLocks noEditPoints="1"/>
          </p:cNvSpPr>
          <p:nvPr/>
        </p:nvSpPr>
        <p:spPr bwMode="auto">
          <a:xfrm>
            <a:off x="4343400" y="1158093"/>
            <a:ext cx="457200" cy="593986"/>
          </a:xfrm>
          <a:custGeom>
            <a:avLst/>
            <a:gdLst>
              <a:gd name="T0" fmla="*/ 891 w 1347"/>
              <a:gd name="T1" fmla="*/ 639 h 1750"/>
              <a:gd name="T2" fmla="*/ 673 w 1347"/>
              <a:gd name="T3" fmla="*/ 728 h 1750"/>
              <a:gd name="T4" fmla="*/ 555 w 1347"/>
              <a:gd name="T5" fmla="*/ 706 h 1750"/>
              <a:gd name="T6" fmla="*/ 456 w 1347"/>
              <a:gd name="T7" fmla="*/ 639 h 1750"/>
              <a:gd name="T8" fmla="*/ 398 w 1347"/>
              <a:gd name="T9" fmla="*/ 639 h 1750"/>
              <a:gd name="T10" fmla="*/ 397 w 1347"/>
              <a:gd name="T11" fmla="*/ 696 h 1750"/>
              <a:gd name="T12" fmla="*/ 525 w 1347"/>
              <a:gd name="T13" fmla="*/ 781 h 1750"/>
              <a:gd name="T14" fmla="*/ 673 w 1347"/>
              <a:gd name="T15" fmla="*/ 810 h 1750"/>
              <a:gd name="T16" fmla="*/ 949 w 1347"/>
              <a:gd name="T17" fmla="*/ 696 h 1750"/>
              <a:gd name="T18" fmla="*/ 949 w 1347"/>
              <a:gd name="T19" fmla="*/ 639 h 1750"/>
              <a:gd name="T20" fmla="*/ 891 w 1347"/>
              <a:gd name="T21" fmla="*/ 639 h 1750"/>
              <a:gd name="T22" fmla="*/ 987 w 1347"/>
              <a:gd name="T23" fmla="*/ 1525 h 1750"/>
              <a:gd name="T24" fmla="*/ 987 w 1347"/>
              <a:gd name="T25" fmla="*/ 1525 h 1750"/>
              <a:gd name="T26" fmla="*/ 360 w 1347"/>
              <a:gd name="T27" fmla="*/ 1525 h 1750"/>
              <a:gd name="T28" fmla="*/ 318 w 1347"/>
              <a:gd name="T29" fmla="*/ 1566 h 1750"/>
              <a:gd name="T30" fmla="*/ 360 w 1347"/>
              <a:gd name="T31" fmla="*/ 1607 h 1750"/>
              <a:gd name="T32" fmla="*/ 987 w 1347"/>
              <a:gd name="T33" fmla="*/ 1607 h 1750"/>
              <a:gd name="T34" fmla="*/ 1027 w 1347"/>
              <a:gd name="T35" fmla="*/ 1566 h 1750"/>
              <a:gd name="T36" fmla="*/ 987 w 1347"/>
              <a:gd name="T37" fmla="*/ 1525 h 1750"/>
              <a:gd name="T38" fmla="*/ 1347 w 1347"/>
              <a:gd name="T39" fmla="*/ 674 h 1750"/>
              <a:gd name="T40" fmla="*/ 1347 w 1347"/>
              <a:gd name="T41" fmla="*/ 674 h 1750"/>
              <a:gd name="T42" fmla="*/ 1149 w 1347"/>
              <a:gd name="T43" fmla="*/ 198 h 1750"/>
              <a:gd name="T44" fmla="*/ 673 w 1347"/>
              <a:gd name="T45" fmla="*/ 0 h 1750"/>
              <a:gd name="T46" fmla="*/ 197 w 1347"/>
              <a:gd name="T47" fmla="*/ 198 h 1750"/>
              <a:gd name="T48" fmla="*/ 0 w 1347"/>
              <a:gd name="T49" fmla="*/ 674 h 1750"/>
              <a:gd name="T50" fmla="*/ 86 w 1347"/>
              <a:gd name="T51" fmla="*/ 1005 h 1750"/>
              <a:gd name="T52" fmla="*/ 292 w 1347"/>
              <a:gd name="T53" fmla="*/ 1229 h 1750"/>
              <a:gd name="T54" fmla="*/ 292 w 1347"/>
              <a:gd name="T55" fmla="*/ 1418 h 1750"/>
              <a:gd name="T56" fmla="*/ 360 w 1347"/>
              <a:gd name="T57" fmla="*/ 1487 h 1750"/>
              <a:gd name="T58" fmla="*/ 987 w 1347"/>
              <a:gd name="T59" fmla="*/ 1487 h 1750"/>
              <a:gd name="T60" fmla="*/ 1055 w 1347"/>
              <a:gd name="T61" fmla="*/ 1418 h 1750"/>
              <a:gd name="T62" fmla="*/ 1055 w 1347"/>
              <a:gd name="T63" fmla="*/ 1229 h 1750"/>
              <a:gd name="T64" fmla="*/ 1260 w 1347"/>
              <a:gd name="T65" fmla="*/ 1005 h 1750"/>
              <a:gd name="T66" fmla="*/ 1347 w 1347"/>
              <a:gd name="T67" fmla="*/ 674 h 1750"/>
              <a:gd name="T68" fmla="*/ 1142 w 1347"/>
              <a:gd name="T69" fmla="*/ 938 h 1750"/>
              <a:gd name="T70" fmla="*/ 1142 w 1347"/>
              <a:gd name="T71" fmla="*/ 938 h 1750"/>
              <a:gd name="T72" fmla="*/ 1141 w 1347"/>
              <a:gd name="T73" fmla="*/ 938 h 1750"/>
              <a:gd name="T74" fmla="*/ 951 w 1347"/>
              <a:gd name="T75" fmla="*/ 1135 h 1750"/>
              <a:gd name="T76" fmla="*/ 919 w 1347"/>
              <a:gd name="T77" fmla="*/ 1193 h 1750"/>
              <a:gd name="T78" fmla="*/ 918 w 1347"/>
              <a:gd name="T79" fmla="*/ 1193 h 1750"/>
              <a:gd name="T80" fmla="*/ 918 w 1347"/>
              <a:gd name="T81" fmla="*/ 1350 h 1750"/>
              <a:gd name="T82" fmla="*/ 429 w 1347"/>
              <a:gd name="T83" fmla="*/ 1350 h 1750"/>
              <a:gd name="T84" fmla="*/ 429 w 1347"/>
              <a:gd name="T85" fmla="*/ 1193 h 1750"/>
              <a:gd name="T86" fmla="*/ 389 w 1347"/>
              <a:gd name="T87" fmla="*/ 1132 h 1750"/>
              <a:gd name="T88" fmla="*/ 205 w 1347"/>
              <a:gd name="T89" fmla="*/ 938 h 1750"/>
              <a:gd name="T90" fmla="*/ 136 w 1347"/>
              <a:gd name="T91" fmla="*/ 674 h 1750"/>
              <a:gd name="T92" fmla="*/ 294 w 1347"/>
              <a:gd name="T93" fmla="*/ 295 h 1750"/>
              <a:gd name="T94" fmla="*/ 673 w 1347"/>
              <a:gd name="T95" fmla="*/ 137 h 1750"/>
              <a:gd name="T96" fmla="*/ 1053 w 1347"/>
              <a:gd name="T97" fmla="*/ 295 h 1750"/>
              <a:gd name="T98" fmla="*/ 1210 w 1347"/>
              <a:gd name="T99" fmla="*/ 674 h 1750"/>
              <a:gd name="T100" fmla="*/ 1142 w 1347"/>
              <a:gd name="T101" fmla="*/ 938 h 1750"/>
              <a:gd name="T102" fmla="*/ 855 w 1347"/>
              <a:gd name="T103" fmla="*/ 1668 h 1750"/>
              <a:gd name="T104" fmla="*/ 855 w 1347"/>
              <a:gd name="T105" fmla="*/ 1668 h 1750"/>
              <a:gd name="T106" fmla="*/ 492 w 1347"/>
              <a:gd name="T107" fmla="*/ 1668 h 1750"/>
              <a:gd name="T108" fmla="*/ 450 w 1347"/>
              <a:gd name="T109" fmla="*/ 1709 h 1750"/>
              <a:gd name="T110" fmla="*/ 492 w 1347"/>
              <a:gd name="T111" fmla="*/ 1750 h 1750"/>
              <a:gd name="T112" fmla="*/ 855 w 1347"/>
              <a:gd name="T113" fmla="*/ 1750 h 1750"/>
              <a:gd name="T114" fmla="*/ 896 w 1347"/>
              <a:gd name="T115" fmla="*/ 1709 h 1750"/>
              <a:gd name="T116" fmla="*/ 855 w 1347"/>
              <a:gd name="T117" fmla="*/ 1668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47" h="1750">
                <a:moveTo>
                  <a:pt x="891" y="639"/>
                </a:moveTo>
                <a:cubicBezTo>
                  <a:pt x="836" y="694"/>
                  <a:pt x="758" y="728"/>
                  <a:pt x="673" y="728"/>
                </a:cubicBezTo>
                <a:cubicBezTo>
                  <a:pt x="631" y="728"/>
                  <a:pt x="591" y="720"/>
                  <a:pt x="555" y="706"/>
                </a:cubicBezTo>
                <a:cubicBezTo>
                  <a:pt x="517" y="691"/>
                  <a:pt x="484" y="667"/>
                  <a:pt x="456" y="639"/>
                </a:cubicBezTo>
                <a:cubicBezTo>
                  <a:pt x="440" y="623"/>
                  <a:pt x="413" y="623"/>
                  <a:pt x="398" y="639"/>
                </a:cubicBezTo>
                <a:cubicBezTo>
                  <a:pt x="382" y="655"/>
                  <a:pt x="382" y="681"/>
                  <a:pt x="397" y="696"/>
                </a:cubicBezTo>
                <a:cubicBezTo>
                  <a:pt x="433" y="732"/>
                  <a:pt x="477" y="761"/>
                  <a:pt x="525" y="781"/>
                </a:cubicBezTo>
                <a:cubicBezTo>
                  <a:pt x="570" y="800"/>
                  <a:pt x="621" y="810"/>
                  <a:pt x="673" y="810"/>
                </a:cubicBezTo>
                <a:cubicBezTo>
                  <a:pt x="781" y="810"/>
                  <a:pt x="878" y="767"/>
                  <a:pt x="949" y="696"/>
                </a:cubicBezTo>
                <a:cubicBezTo>
                  <a:pt x="965" y="681"/>
                  <a:pt x="965" y="655"/>
                  <a:pt x="949" y="639"/>
                </a:cubicBezTo>
                <a:cubicBezTo>
                  <a:pt x="933" y="623"/>
                  <a:pt x="907" y="623"/>
                  <a:pt x="891" y="639"/>
                </a:cubicBezTo>
                <a:close/>
                <a:moveTo>
                  <a:pt x="987" y="1525"/>
                </a:moveTo>
                <a:cubicBezTo>
                  <a:pt x="987" y="1525"/>
                  <a:pt x="987" y="1525"/>
                  <a:pt x="987" y="1525"/>
                </a:cubicBezTo>
                <a:cubicBezTo>
                  <a:pt x="360" y="1525"/>
                  <a:pt x="360" y="1525"/>
                  <a:pt x="360" y="1525"/>
                </a:cubicBezTo>
                <a:cubicBezTo>
                  <a:pt x="337" y="1525"/>
                  <a:pt x="318" y="1544"/>
                  <a:pt x="318" y="1566"/>
                </a:cubicBezTo>
                <a:cubicBezTo>
                  <a:pt x="318" y="1589"/>
                  <a:pt x="337" y="1607"/>
                  <a:pt x="360" y="1607"/>
                </a:cubicBezTo>
                <a:cubicBezTo>
                  <a:pt x="987" y="1607"/>
                  <a:pt x="987" y="1607"/>
                  <a:pt x="987" y="1607"/>
                </a:cubicBezTo>
                <a:cubicBezTo>
                  <a:pt x="1009" y="1607"/>
                  <a:pt x="1027" y="1589"/>
                  <a:pt x="1027" y="1566"/>
                </a:cubicBezTo>
                <a:cubicBezTo>
                  <a:pt x="1027" y="1544"/>
                  <a:pt x="1009" y="1525"/>
                  <a:pt x="987" y="1525"/>
                </a:cubicBezTo>
                <a:close/>
                <a:moveTo>
                  <a:pt x="1347" y="674"/>
                </a:moveTo>
                <a:cubicBezTo>
                  <a:pt x="1347" y="674"/>
                  <a:pt x="1347" y="674"/>
                  <a:pt x="1347" y="674"/>
                </a:cubicBezTo>
                <a:cubicBezTo>
                  <a:pt x="1347" y="488"/>
                  <a:pt x="1272" y="320"/>
                  <a:pt x="1149" y="198"/>
                </a:cubicBezTo>
                <a:cubicBezTo>
                  <a:pt x="1027" y="76"/>
                  <a:pt x="859" y="0"/>
                  <a:pt x="673" y="0"/>
                </a:cubicBezTo>
                <a:cubicBezTo>
                  <a:pt x="488" y="0"/>
                  <a:pt x="318" y="76"/>
                  <a:pt x="197" y="198"/>
                </a:cubicBezTo>
                <a:cubicBezTo>
                  <a:pt x="75" y="320"/>
                  <a:pt x="0" y="488"/>
                  <a:pt x="0" y="674"/>
                </a:cubicBezTo>
                <a:cubicBezTo>
                  <a:pt x="0" y="794"/>
                  <a:pt x="31" y="907"/>
                  <a:pt x="86" y="1005"/>
                </a:cubicBezTo>
                <a:cubicBezTo>
                  <a:pt x="138" y="1094"/>
                  <a:pt x="207" y="1171"/>
                  <a:pt x="292" y="1229"/>
                </a:cubicBezTo>
                <a:cubicBezTo>
                  <a:pt x="292" y="1418"/>
                  <a:pt x="292" y="1418"/>
                  <a:pt x="292" y="1418"/>
                </a:cubicBezTo>
                <a:cubicBezTo>
                  <a:pt x="292" y="1456"/>
                  <a:pt x="322" y="1487"/>
                  <a:pt x="360" y="1487"/>
                </a:cubicBezTo>
                <a:cubicBezTo>
                  <a:pt x="987" y="1487"/>
                  <a:pt x="987" y="1487"/>
                  <a:pt x="987" y="1487"/>
                </a:cubicBezTo>
                <a:cubicBezTo>
                  <a:pt x="1025" y="1487"/>
                  <a:pt x="1055" y="1456"/>
                  <a:pt x="1055" y="1418"/>
                </a:cubicBezTo>
                <a:cubicBezTo>
                  <a:pt x="1055" y="1229"/>
                  <a:pt x="1055" y="1229"/>
                  <a:pt x="1055" y="1229"/>
                </a:cubicBezTo>
                <a:cubicBezTo>
                  <a:pt x="1140" y="1171"/>
                  <a:pt x="1210" y="1094"/>
                  <a:pt x="1260" y="1005"/>
                </a:cubicBezTo>
                <a:cubicBezTo>
                  <a:pt x="1316" y="906"/>
                  <a:pt x="1347" y="794"/>
                  <a:pt x="1347" y="674"/>
                </a:cubicBezTo>
                <a:close/>
                <a:moveTo>
                  <a:pt x="1142" y="938"/>
                </a:moveTo>
                <a:cubicBezTo>
                  <a:pt x="1142" y="938"/>
                  <a:pt x="1142" y="938"/>
                  <a:pt x="1142" y="938"/>
                </a:cubicBezTo>
                <a:cubicBezTo>
                  <a:pt x="1141" y="938"/>
                  <a:pt x="1141" y="938"/>
                  <a:pt x="1141" y="938"/>
                </a:cubicBezTo>
                <a:cubicBezTo>
                  <a:pt x="1096" y="1019"/>
                  <a:pt x="1030" y="1087"/>
                  <a:pt x="951" y="1135"/>
                </a:cubicBezTo>
                <a:cubicBezTo>
                  <a:pt x="931" y="1147"/>
                  <a:pt x="919" y="1170"/>
                  <a:pt x="919" y="1193"/>
                </a:cubicBezTo>
                <a:cubicBezTo>
                  <a:pt x="918" y="1193"/>
                  <a:pt x="918" y="1193"/>
                  <a:pt x="918" y="1193"/>
                </a:cubicBezTo>
                <a:cubicBezTo>
                  <a:pt x="918" y="1350"/>
                  <a:pt x="918" y="1350"/>
                  <a:pt x="918" y="1350"/>
                </a:cubicBezTo>
                <a:cubicBezTo>
                  <a:pt x="429" y="1350"/>
                  <a:pt x="429" y="1350"/>
                  <a:pt x="429" y="1350"/>
                </a:cubicBezTo>
                <a:cubicBezTo>
                  <a:pt x="429" y="1193"/>
                  <a:pt x="429" y="1193"/>
                  <a:pt x="429" y="1193"/>
                </a:cubicBezTo>
                <a:cubicBezTo>
                  <a:pt x="429" y="1165"/>
                  <a:pt x="413" y="1142"/>
                  <a:pt x="389" y="1132"/>
                </a:cubicBezTo>
                <a:cubicBezTo>
                  <a:pt x="313" y="1083"/>
                  <a:pt x="249" y="1017"/>
                  <a:pt x="205" y="938"/>
                </a:cubicBezTo>
                <a:cubicBezTo>
                  <a:pt x="161" y="860"/>
                  <a:pt x="136" y="770"/>
                  <a:pt x="136" y="674"/>
                </a:cubicBezTo>
                <a:cubicBezTo>
                  <a:pt x="136" y="527"/>
                  <a:pt x="197" y="392"/>
                  <a:pt x="294" y="295"/>
                </a:cubicBezTo>
                <a:cubicBezTo>
                  <a:pt x="390" y="197"/>
                  <a:pt x="526" y="137"/>
                  <a:pt x="673" y="137"/>
                </a:cubicBezTo>
                <a:cubicBezTo>
                  <a:pt x="821" y="137"/>
                  <a:pt x="956" y="197"/>
                  <a:pt x="1053" y="295"/>
                </a:cubicBezTo>
                <a:cubicBezTo>
                  <a:pt x="1150" y="392"/>
                  <a:pt x="1210" y="527"/>
                  <a:pt x="1210" y="674"/>
                </a:cubicBezTo>
                <a:cubicBezTo>
                  <a:pt x="1210" y="771"/>
                  <a:pt x="1186" y="861"/>
                  <a:pt x="1142" y="938"/>
                </a:cubicBezTo>
                <a:close/>
                <a:moveTo>
                  <a:pt x="855" y="1668"/>
                </a:moveTo>
                <a:cubicBezTo>
                  <a:pt x="855" y="1668"/>
                  <a:pt x="855" y="1668"/>
                  <a:pt x="855" y="1668"/>
                </a:cubicBezTo>
                <a:cubicBezTo>
                  <a:pt x="492" y="1668"/>
                  <a:pt x="492" y="1668"/>
                  <a:pt x="492" y="1668"/>
                </a:cubicBezTo>
                <a:cubicBezTo>
                  <a:pt x="469" y="1668"/>
                  <a:pt x="450" y="1686"/>
                  <a:pt x="450" y="1709"/>
                </a:cubicBezTo>
                <a:cubicBezTo>
                  <a:pt x="450" y="1731"/>
                  <a:pt x="469" y="1750"/>
                  <a:pt x="492" y="1750"/>
                </a:cubicBezTo>
                <a:cubicBezTo>
                  <a:pt x="855" y="1750"/>
                  <a:pt x="855" y="1750"/>
                  <a:pt x="855" y="1750"/>
                </a:cubicBezTo>
                <a:cubicBezTo>
                  <a:pt x="877" y="1750"/>
                  <a:pt x="896" y="1731"/>
                  <a:pt x="896" y="1709"/>
                </a:cubicBezTo>
                <a:cubicBezTo>
                  <a:pt x="896" y="1686"/>
                  <a:pt x="877" y="1668"/>
                  <a:pt x="855" y="1668"/>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2" name="TextBox 21"/>
          <p:cNvSpPr txBox="1"/>
          <p:nvPr/>
        </p:nvSpPr>
        <p:spPr>
          <a:xfrm>
            <a:off x="2771775" y="1851660"/>
            <a:ext cx="4156075" cy="581057"/>
          </a:xfrm>
          <a:prstGeom prst="rect">
            <a:avLst/>
          </a:prstGeom>
          <a:noFill/>
        </p:spPr>
        <p:txBody>
          <a:bodyPr wrap="square" rtlCol="0">
            <a:spAutoFit/>
          </a:bodyPr>
          <a:lstStyle/>
          <a:p>
            <a:pPr algn="l" fontAlgn="auto">
              <a:lnSpc>
                <a:spcPct val="150000"/>
              </a:lnSpc>
            </a:pPr>
            <a:r>
              <a:rPr lang="zh-CN" sz="2400" dirty="0">
                <a:ln w="6350">
                  <a:noFill/>
                </a:ln>
                <a:solidFill>
                  <a:schemeClr val="bg1">
                    <a:lumMod val="50000"/>
                  </a:schemeClr>
                </a:solidFill>
                <a:latin typeface="微软雅黑" panose="020B0503020204020204" pitchFamily="34" charset="-122"/>
                <a:ea typeface="微软雅黑" panose="020B0503020204020204" pitchFamily="34" charset="-122"/>
              </a:rPr>
              <a:t>数字图像处理</a:t>
            </a:r>
            <a:r>
              <a:rPr lang="zh-CN" altLang="en-US" sz="2400" dirty="0">
                <a:ln w="6350">
                  <a:noFill/>
                </a:ln>
                <a:solidFill>
                  <a:schemeClr val="bg1">
                    <a:lumMod val="50000"/>
                  </a:schemeClr>
                </a:solidFill>
                <a:latin typeface="微软雅黑" panose="020B0503020204020204" pitchFamily="34" charset="-122"/>
                <a:ea typeface="微软雅黑" panose="020B0503020204020204" pitchFamily="34" charset="-122"/>
              </a:rPr>
              <a:t>大作业</a:t>
            </a:r>
            <a:r>
              <a:rPr lang="zh-CN" sz="2400" dirty="0">
                <a:ln w="6350">
                  <a:noFill/>
                </a:ln>
                <a:solidFill>
                  <a:schemeClr val="bg1">
                    <a:lumMod val="50000"/>
                  </a:schemeClr>
                </a:solidFill>
                <a:latin typeface="微软雅黑" panose="020B0503020204020204" pitchFamily="34" charset="-122"/>
                <a:ea typeface="微软雅黑" panose="020B0503020204020204" pitchFamily="34" charset="-122"/>
              </a:rPr>
              <a:t>介绍</a:t>
            </a:r>
            <a:endParaRPr lang="en-US" altLang="zh-CN" sz="2400" dirty="0">
              <a:ln w="6350">
                <a:noFill/>
              </a:ln>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0" y="2946544"/>
            <a:ext cx="9144000" cy="54006"/>
            <a:chOff x="2190216" y="0"/>
            <a:chExt cx="7128792" cy="108012"/>
          </a:xfrm>
        </p:grpSpPr>
        <p:sp>
          <p:nvSpPr>
            <p:cNvPr id="4" name="矩形 3"/>
            <p:cNvSpPr/>
            <p:nvPr/>
          </p:nvSpPr>
          <p:spPr>
            <a:xfrm>
              <a:off x="2190216" y="0"/>
              <a:ext cx="1188132" cy="108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378348" y="0"/>
              <a:ext cx="1188132" cy="1080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566480" y="0"/>
              <a:ext cx="1188132" cy="1080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754612" y="0"/>
              <a:ext cx="1188132" cy="1080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6942744" y="0"/>
              <a:ext cx="1188132" cy="10801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130876" y="0"/>
              <a:ext cx="1188132" cy="1080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51520" y="780605"/>
            <a:ext cx="7776864" cy="3540196"/>
          </a:xfrm>
          <a:prstGeom prst="rect">
            <a:avLst/>
          </a:prstGeom>
        </p:spPr>
      </p:pic>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实验要求</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6" name="表格 5"/>
          <p:cNvGraphicFramePr>
            <a:graphicFrameLocks noGrp="1"/>
          </p:cNvGraphicFramePr>
          <p:nvPr/>
        </p:nvGraphicFramePr>
        <p:xfrm>
          <a:off x="5364088" y="4417602"/>
          <a:ext cx="2684780" cy="655825"/>
        </p:xfrm>
        <a:graphic>
          <a:graphicData uri="http://schemas.openxmlformats.org/drawingml/2006/table">
            <a:tbl>
              <a:tblPr/>
              <a:tblGrid>
                <a:gridCol w="2684780">
                  <a:extLst>
                    <a:ext uri="{9D8B030D-6E8A-4147-A177-3AD203B41FA5}">
                      <a16:colId xmlns:a16="http://schemas.microsoft.com/office/drawing/2014/main" val="20000"/>
                    </a:ext>
                  </a:extLst>
                </a:gridCol>
              </a:tblGrid>
              <a:tr h="655825">
                <a:tc>
                  <a:txBody>
                    <a:bodyPr/>
                    <a:lstStyle/>
                    <a:p>
                      <a:pPr algn="ctr" fontAlgn="ctr" latinLnBrk="0"/>
                      <a:r>
                        <a:rPr lang="zh-CN" altLang="en-US" sz="1000" b="1" dirty="0">
                          <a:solidFill>
                            <a:srgbClr val="000000"/>
                          </a:solidFill>
                          <a:effectLst/>
                        </a:rPr>
                        <a:t>最多</a:t>
                      </a:r>
                      <a:r>
                        <a:rPr lang="en-US" altLang="zh-CN" sz="1000" b="1" dirty="0">
                          <a:solidFill>
                            <a:srgbClr val="000000"/>
                          </a:solidFill>
                          <a:effectLst/>
                        </a:rPr>
                        <a:t>3</a:t>
                      </a:r>
                      <a:r>
                        <a:rPr lang="zh-CN" altLang="en-US" sz="1000" b="1" dirty="0">
                          <a:solidFill>
                            <a:srgbClr val="000000"/>
                          </a:solidFill>
                          <a:effectLst/>
                        </a:rPr>
                        <a:t>人一队，也可单人一队；每个队伍选题方向可以重复，选择题目不能重复；可以寻找感兴趣选题方向下的其他选题题目</a:t>
                      </a:r>
                    </a:p>
                  </a:txBody>
                  <a:tcPr anchor="ctr">
                    <a:lnL>
                      <a:noFill/>
                    </a:lnL>
                    <a:lnR>
                      <a:noFill/>
                    </a:lnR>
                    <a:lnT>
                      <a:noFill/>
                    </a:lnT>
                    <a:lnB>
                      <a:noFill/>
                    </a:lnB>
                    <a:solidFill>
                      <a:srgbClr val="FF0000"/>
                    </a:solidFill>
                  </a:tcPr>
                </a:tc>
                <a:extLst>
                  <a:ext uri="{0D108BD9-81ED-4DB2-BD59-A6C34878D82A}">
                    <a16:rowId xmlns:a16="http://schemas.microsoft.com/office/drawing/2014/main" val="10000"/>
                  </a:ext>
                </a:extLst>
              </a:tr>
            </a:tbl>
          </a:graphicData>
        </a:graphic>
      </p:graphicFrame>
      <p:graphicFrame>
        <p:nvGraphicFramePr>
          <p:cNvPr id="8" name="表格 7"/>
          <p:cNvGraphicFramePr>
            <a:graphicFrameLocks noGrp="1"/>
          </p:cNvGraphicFramePr>
          <p:nvPr/>
        </p:nvGraphicFramePr>
        <p:xfrm>
          <a:off x="251520" y="4338640"/>
          <a:ext cx="4808220" cy="715402"/>
        </p:xfrm>
        <a:graphic>
          <a:graphicData uri="http://schemas.openxmlformats.org/drawingml/2006/table">
            <a:tbl>
              <a:tblPr/>
              <a:tblGrid>
                <a:gridCol w="1211580">
                  <a:extLst>
                    <a:ext uri="{9D8B030D-6E8A-4147-A177-3AD203B41FA5}">
                      <a16:colId xmlns:a16="http://schemas.microsoft.com/office/drawing/2014/main" val="20000"/>
                    </a:ext>
                  </a:extLst>
                </a:gridCol>
                <a:gridCol w="24079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00947">
                <a:tc>
                  <a:txBody>
                    <a:bodyPr/>
                    <a:lstStyle/>
                    <a:p>
                      <a:pPr algn="ctr" fontAlgn="ctr" latinLnBrk="0"/>
                      <a:r>
                        <a:rPr lang="zh-CN" altLang="en-US" sz="1000" dirty="0">
                          <a:solidFill>
                            <a:srgbClr val="000000"/>
                          </a:solidFill>
                          <a:effectLst/>
                        </a:rPr>
                        <a:t>选题方向</a:t>
                      </a:r>
                    </a:p>
                  </a:txBody>
                  <a:tcPr anchor="ctr">
                    <a:lnL>
                      <a:noFill/>
                    </a:lnL>
                    <a:lnR>
                      <a:noFill/>
                    </a:lnR>
                    <a:lnT>
                      <a:noFill/>
                    </a:lnT>
                    <a:lnB>
                      <a:noFill/>
                    </a:lnB>
                    <a:solidFill>
                      <a:schemeClr val="bg2"/>
                    </a:solidFill>
                  </a:tcPr>
                </a:tc>
                <a:tc>
                  <a:txBody>
                    <a:bodyPr/>
                    <a:lstStyle/>
                    <a:p>
                      <a:pPr algn="ctr" fontAlgn="ctr" latinLnBrk="0"/>
                      <a:r>
                        <a:rPr lang="zh-CN" altLang="en-US" sz="1000" dirty="0">
                          <a:solidFill>
                            <a:srgbClr val="000000"/>
                          </a:solidFill>
                          <a:effectLst/>
                        </a:rPr>
                        <a:t>选择题目</a:t>
                      </a:r>
                    </a:p>
                  </a:txBody>
                  <a:tcPr anchor="ctr">
                    <a:lnL>
                      <a:noFill/>
                    </a:lnL>
                    <a:lnR>
                      <a:noFill/>
                    </a:lnR>
                    <a:lnT>
                      <a:noFill/>
                    </a:lnT>
                    <a:lnB>
                      <a:noFill/>
                    </a:lnB>
                    <a:solidFill>
                      <a:schemeClr val="bg2"/>
                    </a:solidFill>
                  </a:tcPr>
                </a:tc>
                <a:tc>
                  <a:txBody>
                    <a:bodyPr/>
                    <a:lstStyle/>
                    <a:p>
                      <a:pPr algn="ctr" fontAlgn="ctr" latinLnBrk="0"/>
                      <a:r>
                        <a:rPr lang="zh-CN" altLang="en-US" sz="1000" dirty="0">
                          <a:solidFill>
                            <a:srgbClr val="000000"/>
                          </a:solidFill>
                          <a:effectLst/>
                        </a:rPr>
                        <a:t>队伍成员</a:t>
                      </a:r>
                    </a:p>
                  </a:txBody>
                  <a:tcPr anchor="ctr">
                    <a:lnL>
                      <a:noFill/>
                    </a:lnL>
                    <a:lnR>
                      <a:noFill/>
                    </a:lnR>
                    <a:lnT>
                      <a:noFill/>
                    </a:lnT>
                    <a:lnB>
                      <a:noFill/>
                    </a:lnB>
                    <a:solidFill>
                      <a:schemeClr val="bg2"/>
                    </a:solidFill>
                  </a:tcPr>
                </a:tc>
                <a:extLst>
                  <a:ext uri="{0D108BD9-81ED-4DB2-BD59-A6C34878D82A}">
                    <a16:rowId xmlns:a16="http://schemas.microsoft.com/office/drawing/2014/main" val="10000"/>
                  </a:ext>
                </a:extLst>
              </a:tr>
              <a:tr h="471562">
                <a:tc>
                  <a:txBody>
                    <a:bodyPr/>
                    <a:lstStyle/>
                    <a:p>
                      <a:pPr algn="ctr" fontAlgn="ctr" latinLnBrk="0"/>
                      <a:r>
                        <a:rPr lang="en-US" altLang="zh-CN" sz="1000" b="1" dirty="0" err="1">
                          <a:solidFill>
                            <a:srgbClr val="000000"/>
                          </a:solidFill>
                          <a:effectLst/>
                          <a:latin typeface="等线" panose="02010600030101010101" pitchFamily="2" charset="-122"/>
                          <a:ea typeface="等线" panose="02010600030101010101" pitchFamily="2" charset="-122"/>
                        </a:rPr>
                        <a:t>xxxx</a:t>
                      </a:r>
                      <a:r>
                        <a:rPr lang="zh-CN" altLang="en-US" sz="1000" b="1" dirty="0">
                          <a:solidFill>
                            <a:srgbClr val="000000"/>
                          </a:solidFill>
                          <a:effectLst/>
                          <a:latin typeface="等线" panose="02010600030101010101" pitchFamily="2" charset="-122"/>
                          <a:ea typeface="等线" panose="02010600030101010101" pitchFamily="2" charset="-122"/>
                        </a:rPr>
                        <a:t>，如多模态图像融合</a:t>
                      </a:r>
                    </a:p>
                  </a:txBody>
                  <a:tcPr anchor="ctr">
                    <a:lnL>
                      <a:noFill/>
                    </a:lnL>
                    <a:lnR>
                      <a:noFill/>
                    </a:lnR>
                    <a:lnT>
                      <a:noFill/>
                    </a:lnT>
                    <a:lnB>
                      <a:noFill/>
                    </a:lnB>
                    <a:solidFill>
                      <a:schemeClr val="bg2"/>
                    </a:solidFill>
                  </a:tcPr>
                </a:tc>
                <a:tc>
                  <a:txBody>
                    <a:bodyPr/>
                    <a:lstStyle/>
                    <a:p>
                      <a:pPr algn="ctr" fontAlgn="ctr" latinLnBrk="0"/>
                      <a:r>
                        <a:rPr lang="zh-CN" altLang="en-US" sz="1000" b="1" dirty="0">
                          <a:solidFill>
                            <a:srgbClr val="000000"/>
                          </a:solidFill>
                          <a:effectLst/>
                          <a:latin typeface="等线" panose="02010600030101010101" pitchFamily="2" charset="-122"/>
                          <a:ea typeface="等线" panose="02010600030101010101" pitchFamily="2" charset="-122"/>
                        </a:rPr>
                        <a:t>如：基于双分支协同驱动的多模态图像融合方法</a:t>
                      </a:r>
                    </a:p>
                  </a:txBody>
                  <a:tcPr anchor="ctr">
                    <a:lnL>
                      <a:noFill/>
                    </a:lnL>
                    <a:lnR>
                      <a:noFill/>
                    </a:lnR>
                    <a:lnT>
                      <a:noFill/>
                    </a:lnT>
                    <a:lnB>
                      <a:noFill/>
                    </a:lnB>
                    <a:solidFill>
                      <a:schemeClr val="bg2"/>
                    </a:solidFill>
                  </a:tcPr>
                </a:tc>
                <a:tc>
                  <a:txBody>
                    <a:bodyPr/>
                    <a:lstStyle/>
                    <a:p>
                      <a:pPr algn="ctr" fontAlgn="ctr" latinLnBrk="0"/>
                      <a:r>
                        <a:rPr lang="en-US" sz="1000" b="1" dirty="0" err="1">
                          <a:solidFill>
                            <a:srgbClr val="000000"/>
                          </a:solidFill>
                          <a:effectLst/>
                        </a:rPr>
                        <a:t>xxx、xxx、xxx</a:t>
                      </a:r>
                      <a:endParaRPr lang="en-US" sz="1000" b="1" dirty="0">
                        <a:solidFill>
                          <a:srgbClr val="000000"/>
                        </a:solidFill>
                        <a:effectLst/>
                      </a:endParaRPr>
                    </a:p>
                  </a:txBody>
                  <a:tcPr anchor="ctr">
                    <a:lnL>
                      <a:noFill/>
                    </a:lnL>
                    <a:lnR>
                      <a:noFill/>
                    </a:lnR>
                    <a:lnT>
                      <a:noFill/>
                    </a:lnT>
                    <a:lnB>
                      <a:noFill/>
                    </a:lnB>
                    <a:solidFill>
                      <a:schemeClr val="bg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总体流程</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文本框 18"/>
          <p:cNvSpPr txBox="1"/>
          <p:nvPr/>
        </p:nvSpPr>
        <p:spPr>
          <a:xfrm>
            <a:off x="800324" y="843558"/>
            <a:ext cx="7588099" cy="3970318"/>
          </a:xfrm>
          <a:prstGeom prst="rect">
            <a:avLst/>
          </a:prstGeom>
          <a:noFill/>
        </p:spPr>
        <p:txBody>
          <a:bodyPr wrap="square" rtlCol="0">
            <a:spAutoFit/>
          </a:bodyPr>
          <a:lstStyle/>
          <a:p>
            <a:pPr marL="342900" indent="-342900">
              <a:buAutoNum type="arabicPeriod"/>
            </a:pPr>
            <a:r>
              <a:rPr lang="zh-CN" altLang="en-US" dirty="0"/>
              <a:t>根据所选题目，找到对应代码的开源仓库</a:t>
            </a:r>
            <a:endParaRPr lang="en-US" altLang="zh-CN" dirty="0"/>
          </a:p>
          <a:p>
            <a:pPr marL="342900" indent="-342900">
              <a:buAutoNum type="arabicPeriod"/>
            </a:pPr>
            <a:r>
              <a:rPr lang="zh-CN" altLang="en-US" dirty="0"/>
              <a:t>根据仓库</a:t>
            </a:r>
            <a:r>
              <a:rPr lang="en-US" altLang="zh-CN" dirty="0"/>
              <a:t>readme</a:t>
            </a:r>
            <a:r>
              <a:rPr lang="zh-CN" altLang="en-US" dirty="0"/>
              <a:t>文件配置代码运行环境</a:t>
            </a:r>
            <a:endParaRPr lang="en-US" altLang="zh-CN" dirty="0"/>
          </a:p>
          <a:p>
            <a:pPr marL="342900" indent="-342900">
              <a:buAutoNum type="arabicPeriod"/>
            </a:pPr>
            <a:r>
              <a:rPr lang="zh-CN" altLang="en-US" dirty="0"/>
              <a:t>研读论文，掌握模型结构</a:t>
            </a:r>
            <a:endParaRPr lang="en-US" altLang="zh-CN" dirty="0"/>
          </a:p>
          <a:p>
            <a:pPr marL="342900" indent="-342900">
              <a:buAutoNum type="arabicPeriod"/>
            </a:pPr>
            <a:r>
              <a:rPr lang="zh-CN" altLang="en-US" dirty="0"/>
              <a:t>训练模型，记录基础实验结果</a:t>
            </a:r>
            <a:endParaRPr lang="en-US" altLang="zh-CN" dirty="0"/>
          </a:p>
          <a:p>
            <a:pPr marL="342900" indent="-342900">
              <a:buAutoNum type="arabicPeriod"/>
            </a:pPr>
            <a:r>
              <a:rPr lang="zh-CN" altLang="en-US" dirty="0"/>
              <a:t>进行超参实验</a:t>
            </a:r>
            <a:r>
              <a:rPr lang="en-US" altLang="zh-CN" dirty="0"/>
              <a:t>(</a:t>
            </a:r>
            <a:r>
              <a:rPr lang="en-US" altLang="zh-CN" dirty="0" err="1"/>
              <a:t>batch_size</a:t>
            </a:r>
            <a:r>
              <a:rPr lang="zh-CN" altLang="en-US" dirty="0"/>
              <a:t>、</a:t>
            </a:r>
            <a:r>
              <a:rPr lang="en-US" altLang="zh-CN" dirty="0" err="1"/>
              <a:t>learning_rate</a:t>
            </a:r>
            <a:r>
              <a:rPr lang="zh-CN" altLang="en-US" dirty="0"/>
              <a:t>等</a:t>
            </a:r>
            <a:r>
              <a:rPr lang="en-US" altLang="zh-CN" dirty="0"/>
              <a:t>)</a:t>
            </a:r>
          </a:p>
          <a:p>
            <a:pPr marL="342900" indent="-342900">
              <a:buAutoNum type="arabicPeriod"/>
            </a:pPr>
            <a:r>
              <a:rPr lang="zh-CN" altLang="en-US" dirty="0"/>
              <a:t>验证论文对应的消融实验</a:t>
            </a:r>
            <a:endParaRPr lang="en-US" altLang="zh-CN" dirty="0"/>
          </a:p>
          <a:p>
            <a:pPr marL="800100" lvl="1" indent="-342900">
              <a:buAutoNum type="arabicPeriod"/>
            </a:pPr>
            <a:r>
              <a:rPr lang="zh-CN" altLang="en-US" dirty="0"/>
              <a:t>至少做一项消融实验</a:t>
            </a:r>
            <a:endParaRPr lang="en-US" altLang="zh-CN" dirty="0"/>
          </a:p>
          <a:p>
            <a:pPr marL="800100" lvl="1" indent="-342900">
              <a:buAutoNum type="arabicPeriod"/>
            </a:pPr>
            <a:r>
              <a:rPr lang="en-US" altLang="zh-CN" dirty="0"/>
              <a:t>(extra)</a:t>
            </a:r>
            <a:r>
              <a:rPr lang="zh-CN" altLang="en-US" dirty="0"/>
              <a:t>可以选择多项</a:t>
            </a:r>
            <a:endParaRPr lang="en-US" altLang="zh-CN" dirty="0"/>
          </a:p>
          <a:p>
            <a:pPr marL="342900" indent="-342900">
              <a:buAutoNum type="arabicPeriod"/>
            </a:pPr>
            <a:r>
              <a:rPr lang="zh-CN" altLang="en-US" dirty="0"/>
              <a:t>撰写实验报告，包括</a:t>
            </a:r>
            <a:endParaRPr lang="en-US" altLang="zh-CN" dirty="0"/>
          </a:p>
          <a:p>
            <a:pPr marL="800100" lvl="1" indent="-342900">
              <a:buAutoNum type="arabicPeriod"/>
            </a:pPr>
            <a:r>
              <a:rPr lang="zh-CN" altLang="en-US" dirty="0"/>
              <a:t>具体环境配置流程</a:t>
            </a:r>
            <a:endParaRPr lang="en-US" altLang="zh-CN" dirty="0"/>
          </a:p>
          <a:p>
            <a:pPr marL="800100" lvl="1" indent="-342900">
              <a:buAutoNum type="arabicPeriod"/>
            </a:pPr>
            <a:r>
              <a:rPr lang="zh-CN" altLang="en-US" dirty="0"/>
              <a:t>所选题目背景任务介绍</a:t>
            </a:r>
            <a:endParaRPr lang="en-US" altLang="zh-CN" dirty="0"/>
          </a:p>
          <a:p>
            <a:pPr marL="800100" lvl="1" indent="-342900">
              <a:buAutoNum type="arabicPeriod"/>
            </a:pPr>
            <a:r>
              <a:rPr lang="zh-CN" altLang="en-US" dirty="0"/>
              <a:t>模型介绍（模型结构设计、损失）</a:t>
            </a:r>
            <a:endParaRPr lang="en-US" altLang="zh-CN" dirty="0"/>
          </a:p>
          <a:p>
            <a:pPr marL="800100" lvl="1" indent="-342900">
              <a:buAutoNum type="arabicPeriod"/>
            </a:pPr>
            <a:r>
              <a:rPr lang="zh-CN" altLang="en-US" dirty="0"/>
              <a:t>实验情况（数据集介绍、评测指标介绍、超参实验、消融实验）</a:t>
            </a:r>
            <a:endParaRPr lang="en-US" altLang="zh-CN" dirty="0"/>
          </a:p>
          <a:p>
            <a:pPr marL="800100" lvl="1" indent="-342900">
              <a:buAutoNum type="arabicPeriod"/>
            </a:pPr>
            <a:r>
              <a:rPr lang="zh-CN" altLang="en-US" dirty="0"/>
              <a:t>实验分工</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前置信息</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416159" y="712499"/>
            <a:ext cx="3070071" cy="369332"/>
          </a:xfrm>
          <a:prstGeom prst="rect">
            <a:avLst/>
          </a:prstGeom>
          <a:noFill/>
        </p:spPr>
        <p:txBody>
          <a:bodyPr wrap="none" rtlCol="0">
            <a:spAutoFit/>
          </a:bodyPr>
          <a:lstStyle/>
          <a:p>
            <a:pPr marL="342900" indent="-342900">
              <a:buAutoNum type="arabicPeriod"/>
            </a:pPr>
            <a:r>
              <a:rPr lang="zh-CN" altLang="en-US" dirty="0"/>
              <a:t>如何寻找开源代码的论文</a:t>
            </a:r>
            <a:endParaRPr lang="en-US" altLang="zh-CN" dirty="0"/>
          </a:p>
        </p:txBody>
      </p:sp>
      <p:pic>
        <p:nvPicPr>
          <p:cNvPr id="4" name="图片 3"/>
          <p:cNvPicPr>
            <a:picLocks noChangeAspect="1"/>
          </p:cNvPicPr>
          <p:nvPr/>
        </p:nvPicPr>
        <p:blipFill>
          <a:blip r:embed="rId3"/>
          <a:stretch>
            <a:fillRect/>
          </a:stretch>
        </p:blipFill>
        <p:spPr>
          <a:xfrm>
            <a:off x="712811" y="1358830"/>
            <a:ext cx="7058943" cy="3554288"/>
          </a:xfrm>
          <a:prstGeom prst="rect">
            <a:avLst/>
          </a:prstGeom>
        </p:spPr>
      </p:pic>
      <p:sp>
        <p:nvSpPr>
          <p:cNvPr id="5" name="矩形 4"/>
          <p:cNvSpPr/>
          <p:nvPr/>
        </p:nvSpPr>
        <p:spPr>
          <a:xfrm>
            <a:off x="3851920" y="712499"/>
            <a:ext cx="2963183" cy="646331"/>
          </a:xfrm>
          <a:prstGeom prst="rect">
            <a:avLst/>
          </a:prstGeom>
        </p:spPr>
        <p:txBody>
          <a:bodyPr wrap="none">
            <a:spAutoFit/>
          </a:bodyPr>
          <a:lstStyle/>
          <a:p>
            <a:r>
              <a:rPr lang="zh-CN" altLang="en-US" dirty="0">
                <a:hlinkClick r:id="rId4"/>
              </a:rPr>
              <a:t>https://paperswithcode.com/</a:t>
            </a:r>
            <a:endParaRPr lang="en-US" altLang="zh-CN"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前置信息</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416159" y="712499"/>
            <a:ext cx="2460930" cy="369332"/>
          </a:xfrm>
          <a:prstGeom prst="rect">
            <a:avLst/>
          </a:prstGeom>
          <a:noFill/>
        </p:spPr>
        <p:txBody>
          <a:bodyPr wrap="none" rtlCol="0">
            <a:spAutoFit/>
          </a:bodyPr>
          <a:lstStyle/>
          <a:p>
            <a:r>
              <a:rPr lang="en-US" altLang="zh-CN" dirty="0"/>
              <a:t>2. GitHub</a:t>
            </a:r>
            <a:r>
              <a:rPr lang="zh-CN" altLang="en-US" dirty="0"/>
              <a:t>开源代码下载</a:t>
            </a:r>
            <a:endParaRPr lang="en-US" altLang="zh-CN" dirty="0"/>
          </a:p>
        </p:txBody>
      </p:sp>
      <p:pic>
        <p:nvPicPr>
          <p:cNvPr id="2" name="图片 1"/>
          <p:cNvPicPr>
            <a:picLocks noChangeAspect="1"/>
          </p:cNvPicPr>
          <p:nvPr/>
        </p:nvPicPr>
        <p:blipFill rotWithShape="1">
          <a:blip r:embed="rId3"/>
          <a:srcRect r="1551" b="36839"/>
          <a:stretch>
            <a:fillRect/>
          </a:stretch>
        </p:blipFill>
        <p:spPr>
          <a:xfrm>
            <a:off x="825260" y="2211710"/>
            <a:ext cx="7120527" cy="2153414"/>
          </a:xfrm>
          <a:prstGeom prst="rect">
            <a:avLst/>
          </a:prstGeom>
        </p:spPr>
      </p:pic>
      <p:sp>
        <p:nvSpPr>
          <p:cNvPr id="3" name="文本框 2"/>
          <p:cNvSpPr txBox="1"/>
          <p:nvPr/>
        </p:nvSpPr>
        <p:spPr>
          <a:xfrm>
            <a:off x="615191" y="1078577"/>
            <a:ext cx="7471982" cy="923330"/>
          </a:xfrm>
          <a:prstGeom prst="rect">
            <a:avLst/>
          </a:prstGeom>
          <a:noFill/>
        </p:spPr>
        <p:txBody>
          <a:bodyPr wrap="none" rtlCol="0">
            <a:spAutoFit/>
          </a:bodyPr>
          <a:lstStyle/>
          <a:p>
            <a:r>
              <a:rPr lang="zh-CN" altLang="en-US" dirty="0">
                <a:hlinkClick r:id="rId4"/>
              </a:rPr>
              <a:t>使用</a:t>
            </a:r>
            <a:r>
              <a:rPr lang="en-US" altLang="zh-CN" dirty="0" err="1">
                <a:hlinkClick r:id="rId4"/>
              </a:rPr>
              <a:t>git</a:t>
            </a:r>
            <a:r>
              <a:rPr lang="zh-CN" altLang="en-US" dirty="0">
                <a:hlinkClick r:id="rId4"/>
              </a:rPr>
              <a:t>操作：</a:t>
            </a:r>
            <a:r>
              <a:rPr lang="en-US" altLang="zh-CN" dirty="0">
                <a:hlinkClick r:id="rId4"/>
              </a:rPr>
              <a:t>https://blog.csdn.net/qq_39412702/article/details/104843324</a:t>
            </a:r>
            <a:endParaRPr lang="en-US" altLang="zh-CN" dirty="0"/>
          </a:p>
          <a:p>
            <a:endParaRPr lang="en-US" altLang="zh-CN" dirty="0"/>
          </a:p>
          <a:p>
            <a:r>
              <a:rPr lang="zh-CN" altLang="en-US" dirty="0"/>
              <a:t>或者直接下载压缩包：</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a:srcRect l="1" r="158" b="94293"/>
          <a:stretch>
            <a:fillRect/>
          </a:stretch>
        </p:blipFill>
        <p:spPr>
          <a:xfrm>
            <a:off x="901845" y="3340587"/>
            <a:ext cx="5400600" cy="216024"/>
          </a:xfrm>
          <a:prstGeom prst="rect">
            <a:avLst/>
          </a:prstGeom>
        </p:spPr>
      </p:pic>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环境配置</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468130" y="1246397"/>
            <a:ext cx="8262262" cy="646331"/>
          </a:xfrm>
          <a:prstGeom prst="rect">
            <a:avLst/>
          </a:prstGeom>
          <a:noFill/>
        </p:spPr>
        <p:txBody>
          <a:bodyPr wrap="none" rtlCol="0">
            <a:spAutoFit/>
          </a:bodyPr>
          <a:lstStyle/>
          <a:p>
            <a:r>
              <a:rPr lang="en-US" altLang="zh-CN" dirty="0"/>
              <a:t>1. </a:t>
            </a:r>
            <a:r>
              <a:rPr lang="zh-CN" altLang="en-US" dirty="0"/>
              <a:t>安装</a:t>
            </a:r>
            <a:r>
              <a:rPr lang="en-US" altLang="zh-CN" dirty="0" err="1"/>
              <a:t>Miniconda</a:t>
            </a:r>
            <a:r>
              <a:rPr lang="en-US" altLang="zh-CN" dirty="0"/>
              <a:t>/Anaconda</a:t>
            </a:r>
          </a:p>
          <a:p>
            <a:pPr lvl="1"/>
            <a:r>
              <a:rPr lang="zh-CN" altLang="en-US" dirty="0"/>
              <a:t>请参考博客：</a:t>
            </a:r>
            <a:r>
              <a:rPr lang="en-US" altLang="zh-CN" dirty="0"/>
              <a:t> </a:t>
            </a:r>
            <a:r>
              <a:rPr lang="en-US" altLang="zh-CN" dirty="0">
                <a:hlinkClick r:id="rId4"/>
              </a:rPr>
              <a:t>https://blog.csdn.net/ming12131342/article/details/140233867</a:t>
            </a:r>
            <a:endParaRPr lang="en-US" altLang="zh-CN" dirty="0"/>
          </a:p>
        </p:txBody>
      </p:sp>
      <p:sp>
        <p:nvSpPr>
          <p:cNvPr id="18" name="文本框 17"/>
          <p:cNvSpPr txBox="1"/>
          <p:nvPr/>
        </p:nvSpPr>
        <p:spPr>
          <a:xfrm>
            <a:off x="290688" y="862401"/>
            <a:ext cx="2214324" cy="369332"/>
          </a:xfrm>
          <a:prstGeom prst="rect">
            <a:avLst/>
          </a:prstGeom>
          <a:noFill/>
        </p:spPr>
        <p:txBody>
          <a:bodyPr wrap="none" rtlCol="0">
            <a:spAutoFit/>
          </a:bodyPr>
          <a:lstStyle/>
          <a:p>
            <a:r>
              <a:rPr lang="en-US" altLang="zh-CN" dirty="0"/>
              <a:t>Windows</a:t>
            </a:r>
            <a:r>
              <a:rPr lang="zh-CN" altLang="en-US" dirty="0"/>
              <a:t>下环境配置</a:t>
            </a:r>
          </a:p>
        </p:txBody>
      </p:sp>
      <p:sp>
        <p:nvSpPr>
          <p:cNvPr id="19" name="文本框 18"/>
          <p:cNvSpPr txBox="1"/>
          <p:nvPr/>
        </p:nvSpPr>
        <p:spPr>
          <a:xfrm>
            <a:off x="467872" y="1792609"/>
            <a:ext cx="8637301" cy="1600438"/>
          </a:xfrm>
          <a:prstGeom prst="rect">
            <a:avLst/>
          </a:prstGeom>
          <a:noFill/>
        </p:spPr>
        <p:txBody>
          <a:bodyPr wrap="none" rtlCol="0">
            <a:spAutoFit/>
          </a:bodyPr>
          <a:lstStyle/>
          <a:p>
            <a:r>
              <a:rPr lang="en-US" altLang="zh-CN" dirty="0"/>
              <a:t>2. </a:t>
            </a:r>
            <a:r>
              <a:rPr lang="zh-CN" altLang="en-US" dirty="0"/>
              <a:t>给</a:t>
            </a:r>
            <a:r>
              <a:rPr lang="en-US" altLang="zh-CN" dirty="0" err="1"/>
              <a:t>conda</a:t>
            </a:r>
            <a:r>
              <a:rPr lang="zh-CN" altLang="en-US" dirty="0"/>
              <a:t>配置清华源</a:t>
            </a:r>
            <a:endParaRPr lang="en-US" altLang="zh-CN" dirty="0"/>
          </a:p>
          <a:p>
            <a:pPr lvl="1"/>
            <a:r>
              <a:rPr lang="en-US" altLang="zh-CN" sz="1600" dirty="0" err="1"/>
              <a:t>conda</a:t>
            </a:r>
            <a:r>
              <a:rPr lang="en-US" altLang="zh-CN" sz="1600" dirty="0"/>
              <a:t> </a:t>
            </a:r>
            <a:r>
              <a:rPr lang="en-US" altLang="zh-CN" sz="1600" dirty="0" err="1"/>
              <a:t>config</a:t>
            </a:r>
            <a:r>
              <a:rPr lang="en-US" altLang="zh-CN" sz="1600" dirty="0"/>
              <a:t> --add channels https://mirrors.tuna.tsinghua.edu.cn/anaconda/pkgs/free/</a:t>
            </a:r>
          </a:p>
          <a:p>
            <a:pPr lvl="1"/>
            <a:r>
              <a:rPr lang="en-US" altLang="zh-CN" sz="1600" dirty="0" err="1"/>
              <a:t>conda</a:t>
            </a:r>
            <a:r>
              <a:rPr lang="en-US" altLang="zh-CN" sz="1600" dirty="0"/>
              <a:t> </a:t>
            </a:r>
            <a:r>
              <a:rPr lang="en-US" altLang="zh-CN" sz="1600" dirty="0" err="1"/>
              <a:t>config</a:t>
            </a:r>
            <a:r>
              <a:rPr lang="en-US" altLang="zh-CN" sz="1600" dirty="0"/>
              <a:t> --add channels https://mirrors.tuna.tsinghua.edu.cn/anaconda/pkgs/main/</a:t>
            </a:r>
          </a:p>
          <a:p>
            <a:pPr lvl="1"/>
            <a:r>
              <a:rPr lang="en-US" altLang="zh-CN" sz="1600" dirty="0" err="1"/>
              <a:t>conda</a:t>
            </a:r>
            <a:r>
              <a:rPr lang="en-US" altLang="zh-CN" sz="1600" dirty="0"/>
              <a:t> </a:t>
            </a:r>
            <a:r>
              <a:rPr lang="en-US" altLang="zh-CN" sz="1600" dirty="0" err="1"/>
              <a:t>config</a:t>
            </a:r>
            <a:r>
              <a:rPr lang="en-US" altLang="zh-CN" sz="1600" dirty="0"/>
              <a:t> --add channels https://mirrors.tuna.tsinghua.edu.cn/anaconda/cloud/conda-forge/</a:t>
            </a:r>
          </a:p>
          <a:p>
            <a:pPr lvl="1"/>
            <a:r>
              <a:rPr lang="en-US" altLang="zh-CN" sz="1600" dirty="0" err="1"/>
              <a:t>conda</a:t>
            </a:r>
            <a:r>
              <a:rPr lang="en-US" altLang="zh-CN" sz="1600" dirty="0"/>
              <a:t> </a:t>
            </a:r>
            <a:r>
              <a:rPr lang="en-US" altLang="zh-CN" sz="1600" dirty="0" err="1"/>
              <a:t>config</a:t>
            </a:r>
            <a:r>
              <a:rPr lang="en-US" altLang="zh-CN" sz="1600" dirty="0"/>
              <a:t> --add channels https://mirrors.tuna.tsinghua.edu.cn/anaconda/cloud/msys2/</a:t>
            </a:r>
            <a:br>
              <a:rPr lang="en-US" altLang="zh-CN" sz="1600" dirty="0"/>
            </a:br>
            <a:r>
              <a:rPr lang="zh-CN" altLang="en-US" sz="1600" dirty="0"/>
              <a:t>验证是否配置成功</a:t>
            </a:r>
            <a:endParaRPr lang="en-US" altLang="zh-CN" sz="1600" dirty="0"/>
          </a:p>
        </p:txBody>
      </p:sp>
      <p:pic>
        <p:nvPicPr>
          <p:cNvPr id="7" name="图片 6"/>
          <p:cNvPicPr>
            <a:picLocks noChangeAspect="1"/>
          </p:cNvPicPr>
          <p:nvPr/>
        </p:nvPicPr>
        <p:blipFill rotWithShape="1">
          <a:blip r:embed="rId3"/>
          <a:srcRect t="66869" r="1207"/>
          <a:stretch>
            <a:fillRect/>
          </a:stretch>
        </p:blipFill>
        <p:spPr>
          <a:xfrm>
            <a:off x="899592" y="3460972"/>
            <a:ext cx="4076062" cy="956573"/>
          </a:xfrm>
          <a:prstGeom prst="rect">
            <a:avLst/>
          </a:prstGeom>
        </p:spPr>
      </p:pic>
      <p:sp>
        <p:nvSpPr>
          <p:cNvPr id="23" name="文本框 22"/>
          <p:cNvSpPr txBox="1"/>
          <p:nvPr/>
        </p:nvSpPr>
        <p:spPr>
          <a:xfrm>
            <a:off x="467399" y="4485470"/>
            <a:ext cx="6957739" cy="646331"/>
          </a:xfrm>
          <a:prstGeom prst="rect">
            <a:avLst/>
          </a:prstGeom>
          <a:noFill/>
        </p:spPr>
        <p:txBody>
          <a:bodyPr wrap="none" rtlCol="0">
            <a:spAutoFit/>
          </a:bodyPr>
          <a:lstStyle/>
          <a:p>
            <a:r>
              <a:rPr lang="en-US" altLang="zh-CN" dirty="0"/>
              <a:t>3. </a:t>
            </a:r>
            <a:r>
              <a:rPr lang="zh-CN" altLang="en-US" dirty="0"/>
              <a:t>当使用</a:t>
            </a:r>
            <a:r>
              <a:rPr lang="en-US" altLang="zh-CN" dirty="0"/>
              <a:t>pip</a:t>
            </a:r>
            <a:r>
              <a:rPr lang="zh-CN" altLang="en-US" dirty="0"/>
              <a:t>安装软件时，可以通过指定清华源快速下载</a:t>
            </a:r>
            <a:endParaRPr lang="en-US" altLang="zh-CN" dirty="0"/>
          </a:p>
          <a:p>
            <a:r>
              <a:rPr lang="en-US" altLang="zh-CN" dirty="0"/>
              <a:t>      pip install </a:t>
            </a:r>
            <a:r>
              <a:rPr lang="en-US" altLang="zh-CN" dirty="0" err="1"/>
              <a:t>package_name</a:t>
            </a:r>
            <a:r>
              <a:rPr lang="en-US" altLang="zh-CN" dirty="0"/>
              <a:t> -</a:t>
            </a:r>
            <a:r>
              <a:rPr lang="en-US" altLang="zh-CN" dirty="0" err="1"/>
              <a:t>i</a:t>
            </a:r>
            <a:r>
              <a:rPr lang="en-US" altLang="zh-CN" dirty="0"/>
              <a:t> https://pypi.tuna.tsinghua.edu.cn/simple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环境配置</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4" name="图片 13"/>
          <p:cNvPicPr>
            <a:picLocks noChangeAspect="1"/>
          </p:cNvPicPr>
          <p:nvPr/>
        </p:nvPicPr>
        <p:blipFill rotWithShape="1">
          <a:blip r:embed="rId3"/>
          <a:srcRect r="17595"/>
          <a:stretch>
            <a:fillRect/>
          </a:stretch>
        </p:blipFill>
        <p:spPr>
          <a:xfrm>
            <a:off x="497496" y="1486605"/>
            <a:ext cx="4212976" cy="914954"/>
          </a:xfrm>
          <a:prstGeom prst="rect">
            <a:avLst/>
          </a:prstGeom>
        </p:spPr>
      </p:pic>
      <p:pic>
        <p:nvPicPr>
          <p:cNvPr id="4" name="图片 3"/>
          <p:cNvPicPr>
            <a:picLocks noChangeAspect="1"/>
          </p:cNvPicPr>
          <p:nvPr/>
        </p:nvPicPr>
        <p:blipFill>
          <a:blip r:embed="rId4"/>
          <a:stretch>
            <a:fillRect/>
          </a:stretch>
        </p:blipFill>
        <p:spPr>
          <a:xfrm>
            <a:off x="5004048" y="1453510"/>
            <a:ext cx="4007843" cy="2692925"/>
          </a:xfrm>
          <a:prstGeom prst="rect">
            <a:avLst/>
          </a:prstGeom>
        </p:spPr>
      </p:pic>
      <p:pic>
        <p:nvPicPr>
          <p:cNvPr id="5" name="图片 4"/>
          <p:cNvPicPr>
            <a:picLocks noChangeAspect="1"/>
          </p:cNvPicPr>
          <p:nvPr/>
        </p:nvPicPr>
        <p:blipFill>
          <a:blip r:embed="rId5"/>
          <a:stretch>
            <a:fillRect/>
          </a:stretch>
        </p:blipFill>
        <p:spPr>
          <a:xfrm>
            <a:off x="472858" y="2499742"/>
            <a:ext cx="4249863" cy="2001389"/>
          </a:xfrm>
          <a:prstGeom prst="rect">
            <a:avLst/>
          </a:prstGeom>
        </p:spPr>
      </p:pic>
      <p:sp>
        <p:nvSpPr>
          <p:cNvPr id="2" name="文本框 1"/>
          <p:cNvSpPr txBox="1"/>
          <p:nvPr/>
        </p:nvSpPr>
        <p:spPr>
          <a:xfrm>
            <a:off x="508246" y="745491"/>
            <a:ext cx="7920880" cy="646331"/>
          </a:xfrm>
          <a:prstGeom prst="rect">
            <a:avLst/>
          </a:prstGeom>
          <a:noFill/>
        </p:spPr>
        <p:txBody>
          <a:bodyPr wrap="square" rtlCol="0">
            <a:spAutoFit/>
          </a:bodyPr>
          <a:lstStyle/>
          <a:p>
            <a:r>
              <a:rPr lang="zh-CN" altLang="en-US" dirty="0"/>
              <a:t>通过</a:t>
            </a:r>
            <a:r>
              <a:rPr lang="en-US" altLang="zh-CN" dirty="0" err="1"/>
              <a:t>conda</a:t>
            </a:r>
            <a:r>
              <a:rPr lang="zh-CN" altLang="en-US" dirty="0"/>
              <a:t>创建一个虚拟环境，安装官方代码仓库</a:t>
            </a:r>
            <a:r>
              <a:rPr lang="en-US" altLang="zh-CN" dirty="0"/>
              <a:t>README.md</a:t>
            </a:r>
            <a:r>
              <a:rPr lang="zh-CN" altLang="en-US" dirty="0"/>
              <a:t>文件或者</a:t>
            </a:r>
            <a:r>
              <a:rPr lang="en-US" altLang="zh-CN" dirty="0"/>
              <a:t>requirements.txt</a:t>
            </a:r>
            <a:r>
              <a:rPr lang="zh-CN" altLang="en-US" dirty="0"/>
              <a:t>中的包</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48566"/>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任务背景介绍</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p:cNvSpPr txBox="1"/>
          <p:nvPr/>
        </p:nvSpPr>
        <p:spPr>
          <a:xfrm>
            <a:off x="600362" y="796111"/>
            <a:ext cx="7914454" cy="1523494"/>
          </a:xfrm>
          <a:prstGeom prst="rect">
            <a:avLst/>
          </a:prstGeom>
          <a:noFill/>
        </p:spPr>
        <p:txBody>
          <a:bodyPr wrap="square">
            <a:spAutoFit/>
          </a:bodyPr>
          <a:lstStyle/>
          <a:p>
            <a:pPr>
              <a:lnSpc>
                <a:spcPct val="150000"/>
              </a:lnSpc>
            </a:pPr>
            <a:r>
              <a:rPr lang="zh-CN" altLang="en-US" b="1" dirty="0">
                <a:solidFill>
                  <a:srgbClr val="0A3B97"/>
                </a:solidFill>
                <a:latin typeface="微软雅黑" panose="020B0503020204020204" pitchFamily="34" charset="-122"/>
                <a:ea typeface="微软雅黑" panose="020B0503020204020204" pitchFamily="34" charset="-122"/>
              </a:rPr>
              <a:t>行人重识别</a:t>
            </a:r>
            <a:r>
              <a:rPr lang="zh-CN" altLang="en-US" sz="1200" dirty="0">
                <a:solidFill>
                  <a:sysClr val="windowText" lastClr="000000"/>
                </a:solidFill>
                <a:latin typeface="微软雅黑" panose="020B0503020204020204" pitchFamily="34" charset="-122"/>
                <a:ea typeface="微软雅黑" panose="020B0503020204020204" pitchFamily="34" charset="-122"/>
              </a:rPr>
              <a:t>旨在非重叠视角域、多摄像头网络下实现行人匹配，即确认不同位置的摄像头在不同的时刻拍摄到的行人目标是否为同一人。</a:t>
            </a:r>
            <a:endParaRPr lang="en-US" altLang="zh-CN" sz="12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pPr>
            <a:r>
              <a:rPr lang="zh-CN" altLang="en-US" b="1" dirty="0">
                <a:solidFill>
                  <a:srgbClr val="0A3B97"/>
                </a:solidFill>
                <a:latin typeface="微软雅黑" panose="020B0503020204020204" pitchFamily="34" charset="-122"/>
                <a:ea typeface="微软雅黑" panose="020B0503020204020204" pitchFamily="34" charset="-122"/>
              </a:rPr>
              <a:t>跨模态行人重识别</a:t>
            </a:r>
            <a:r>
              <a:rPr lang="zh-CN" altLang="en-US" sz="1200" dirty="0">
                <a:solidFill>
                  <a:sysClr val="windowText" lastClr="000000"/>
                </a:solidFill>
                <a:latin typeface="微软雅黑" panose="020B0503020204020204" pitchFamily="34" charset="-122"/>
                <a:ea typeface="微软雅黑" panose="020B0503020204020204" pitchFamily="34" charset="-122"/>
              </a:rPr>
              <a:t>任务中待匹配的行人图像分别属于不同的模态，</a:t>
            </a:r>
            <a:r>
              <a:rPr lang="zh-CN" altLang="en-US" sz="1200" dirty="0">
                <a:solidFill>
                  <a:srgbClr val="FF0000"/>
                </a:solidFill>
                <a:latin typeface="微软雅黑" panose="020B0503020204020204" pitchFamily="34" charset="-122"/>
                <a:ea typeface="微软雅黑" panose="020B0503020204020204" pitchFamily="34" charset="-122"/>
              </a:rPr>
              <a:t>匹配难度更大</a:t>
            </a:r>
            <a:r>
              <a:rPr lang="zh-CN" altLang="en-US" sz="1200" dirty="0">
                <a:solidFill>
                  <a:sysClr val="windowText" lastClr="000000"/>
                </a:solidFill>
                <a:latin typeface="微软雅黑" panose="020B0503020204020204" pitchFamily="34" charset="-122"/>
                <a:ea typeface="微软雅黑" panose="020B0503020204020204" pitchFamily="34" charset="-122"/>
              </a:rPr>
              <a:t>，通常用于在现实监控场景中匹配不同时间段的行人。</a:t>
            </a:r>
          </a:p>
        </p:txBody>
      </p:sp>
      <p:pic>
        <p:nvPicPr>
          <p:cNvPr id="15"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69" y="2397473"/>
            <a:ext cx="3380496" cy="25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15"/>
          <p:cNvPicPr>
            <a:picLocks noChangeAspect="1"/>
          </p:cNvPicPr>
          <p:nvPr/>
        </p:nvPicPr>
        <p:blipFill>
          <a:blip r:embed="rId4"/>
          <a:stretch>
            <a:fillRect/>
          </a:stretch>
        </p:blipFill>
        <p:spPr>
          <a:xfrm>
            <a:off x="3503788" y="2304833"/>
            <a:ext cx="5629355" cy="26859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任务背景介绍</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713073" y="850334"/>
            <a:ext cx="10765854" cy="418191"/>
          </a:xfrm>
          <a:prstGeom prst="rect">
            <a:avLst/>
          </a:prstGeom>
          <a:noFill/>
        </p:spPr>
        <p:txBody>
          <a:bodyPr wrap="square">
            <a:spAutoFit/>
          </a:bodyPr>
          <a:lstStyle/>
          <a:p>
            <a:pPr marL="457200" indent="-457200">
              <a:lnSpc>
                <a:spcPct val="150000"/>
              </a:lnSpc>
              <a:buFont typeface="Wingdings" panose="05000000000000000000" pitchFamily="2" charset="2"/>
              <a:buChar char="u"/>
            </a:pPr>
            <a:r>
              <a:rPr kumimoji="0" lang="zh-CN" altLang="en-US" sz="1600" b="1" i="0" u="none" strike="noStrike" kern="1200" cap="none" spc="0" normalizeH="0" baseline="0" noProof="0" dirty="0">
                <a:ln>
                  <a:noFill/>
                </a:ln>
                <a:solidFill>
                  <a:srgbClr val="0A3B97"/>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问题：</a:t>
            </a:r>
            <a:r>
              <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在可见光图像构成的候选集图库中找到与给定待查询红外图像身份一致的行人。</a:t>
            </a:r>
            <a:endParaRPr lang="en-US" altLang="zh-CN"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 name="组合 1"/>
          <p:cNvGrpSpPr/>
          <p:nvPr/>
        </p:nvGrpSpPr>
        <p:grpSpPr>
          <a:xfrm>
            <a:off x="975336" y="1549796"/>
            <a:ext cx="3104727" cy="1345475"/>
            <a:chOff x="1468569" y="1658323"/>
            <a:chExt cx="4796127" cy="2330249"/>
          </a:xfrm>
        </p:grpSpPr>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5903" y="1658323"/>
              <a:ext cx="800383" cy="2330242"/>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8569" y="1658330"/>
              <a:ext cx="800383" cy="2330242"/>
            </a:xfrm>
            <a:prstGeom prst="rect">
              <a:avLst/>
            </a:prstGeom>
          </p:spPr>
        </p:pic>
        <p:pic>
          <p:nvPicPr>
            <p:cNvPr id="19" name="图片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65628" y="1658323"/>
              <a:ext cx="800383" cy="2330241"/>
            </a:xfrm>
            <a:prstGeom prst="rect">
              <a:avLst/>
            </a:prstGeom>
          </p:spPr>
        </p:pic>
        <p:pic>
          <p:nvPicPr>
            <p:cNvPr id="20" name="图片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6285" y="1658323"/>
              <a:ext cx="800383" cy="2330241"/>
            </a:xfrm>
            <a:prstGeom prst="rect">
              <a:avLst/>
            </a:prstGeom>
          </p:spPr>
        </p:pic>
        <p:pic>
          <p:nvPicPr>
            <p:cNvPr id="23" name="图片 2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64970" y="1658323"/>
              <a:ext cx="800384" cy="2330241"/>
            </a:xfrm>
            <a:prstGeom prst="rect">
              <a:avLst/>
            </a:prstGeom>
          </p:spPr>
        </p:pic>
        <p:pic>
          <p:nvPicPr>
            <p:cNvPr id="24" name="图片 2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64312" y="1658323"/>
              <a:ext cx="800384" cy="2330241"/>
            </a:xfrm>
            <a:prstGeom prst="rect">
              <a:avLst/>
            </a:prstGeom>
          </p:spPr>
        </p:pic>
      </p:grpSp>
      <p:grpSp>
        <p:nvGrpSpPr>
          <p:cNvPr id="3" name="组合 2"/>
          <p:cNvGrpSpPr/>
          <p:nvPr/>
        </p:nvGrpSpPr>
        <p:grpSpPr>
          <a:xfrm>
            <a:off x="929800" y="3363838"/>
            <a:ext cx="3210152" cy="1603260"/>
            <a:chOff x="1468569" y="4143640"/>
            <a:chExt cx="4796126" cy="2331782"/>
          </a:xfrm>
        </p:grpSpPr>
        <p:pic>
          <p:nvPicPr>
            <p:cNvPr id="17" name="图片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65903" y="4143652"/>
              <a:ext cx="800383" cy="2330240"/>
            </a:xfrm>
            <a:prstGeom prst="rect">
              <a:avLst/>
            </a:prstGeom>
          </p:spPr>
        </p:pic>
        <p:pic>
          <p:nvPicPr>
            <p:cNvPr id="18" name="图片 1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468569" y="4143655"/>
              <a:ext cx="800383" cy="2330242"/>
            </a:xfrm>
            <a:prstGeom prst="rect">
              <a:avLst/>
            </a:prstGeom>
          </p:spPr>
        </p:pic>
        <p:pic>
          <p:nvPicPr>
            <p:cNvPr id="21" name="图片 2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861575" y="4143640"/>
              <a:ext cx="800384" cy="2330241"/>
            </a:xfrm>
            <a:prstGeom prst="rect">
              <a:avLst/>
            </a:prstGeom>
          </p:spPr>
        </p:pic>
        <p:pic>
          <p:nvPicPr>
            <p:cNvPr id="22" name="图片 2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061078" y="4143647"/>
              <a:ext cx="800383" cy="2330241"/>
            </a:xfrm>
            <a:prstGeom prst="rect">
              <a:avLst/>
            </a:prstGeom>
          </p:spPr>
        </p:pic>
        <p:pic>
          <p:nvPicPr>
            <p:cNvPr id="25" name="图片 2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61959" y="4145181"/>
              <a:ext cx="800384" cy="2330241"/>
            </a:xfrm>
            <a:prstGeom prst="rect">
              <a:avLst/>
            </a:prstGeom>
          </p:spPr>
        </p:pic>
        <p:pic>
          <p:nvPicPr>
            <p:cNvPr id="26" name="图片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464313" y="4143640"/>
              <a:ext cx="800382" cy="2330241"/>
            </a:xfrm>
            <a:prstGeom prst="rect">
              <a:avLst/>
            </a:prstGeom>
          </p:spPr>
        </p:pic>
      </p:grpSp>
      <p:sp>
        <p:nvSpPr>
          <p:cNvPr id="29" name="文本框 28"/>
          <p:cNvSpPr txBox="1"/>
          <p:nvPr/>
        </p:nvSpPr>
        <p:spPr>
          <a:xfrm>
            <a:off x="-406754" y="1692688"/>
            <a:ext cx="1604579" cy="313932"/>
          </a:xfrm>
          <a:prstGeom prst="rect">
            <a:avLst/>
          </a:prstGeom>
          <a:noFill/>
        </p:spPr>
        <p:txBody>
          <a:bodyPr wrap="square">
            <a:spAutoFit/>
          </a:bodyPr>
          <a:lstStyle/>
          <a:p>
            <a:pPr algn="ctr">
              <a:lnSpc>
                <a:spcPct val="120000"/>
              </a:lnSpc>
            </a:pPr>
            <a:r>
              <a:rPr lang="zh-CN" altLang="en-US" sz="1200" b="1" dirty="0">
                <a:latin typeface="微软雅黑" panose="020B0503020204020204" pitchFamily="34" charset="-122"/>
                <a:ea typeface="微软雅黑" panose="020B0503020204020204" pitchFamily="34" charset="-122"/>
              </a:rPr>
              <a:t>可见光图像</a:t>
            </a:r>
          </a:p>
        </p:txBody>
      </p:sp>
      <p:sp>
        <p:nvSpPr>
          <p:cNvPr id="30" name="文本框 29"/>
          <p:cNvSpPr txBox="1"/>
          <p:nvPr/>
        </p:nvSpPr>
        <p:spPr>
          <a:xfrm>
            <a:off x="-478449" y="3908249"/>
            <a:ext cx="1604579" cy="295145"/>
          </a:xfrm>
          <a:prstGeom prst="rect">
            <a:avLst/>
          </a:prstGeom>
          <a:noFill/>
        </p:spPr>
        <p:txBody>
          <a:bodyPr wrap="square">
            <a:spAutoFit/>
          </a:bodyPr>
          <a:lstStyle/>
          <a:p>
            <a:pPr algn="ctr">
              <a:lnSpc>
                <a:spcPct val="120000"/>
              </a:lnSpc>
            </a:pPr>
            <a:r>
              <a:rPr lang="zh-CN" altLang="en-US" sz="1200" b="1" dirty="0">
                <a:latin typeface="微软雅黑" panose="020B0503020204020204" pitchFamily="34" charset="-122"/>
                <a:ea typeface="微软雅黑" panose="020B0503020204020204" pitchFamily="34" charset="-122"/>
              </a:rPr>
              <a:t>红外图像</a:t>
            </a:r>
          </a:p>
        </p:txBody>
      </p:sp>
      <p:sp>
        <p:nvSpPr>
          <p:cNvPr id="31" name="文本框 30"/>
          <p:cNvSpPr txBox="1"/>
          <p:nvPr/>
        </p:nvSpPr>
        <p:spPr>
          <a:xfrm>
            <a:off x="3707904" y="4723455"/>
            <a:ext cx="516994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57365">
                    <a:lumMod val="50000"/>
                  </a:srgbClr>
                </a:solidFill>
                <a:effectLst/>
                <a:uLnTx/>
                <a:uFillTx/>
                <a:latin typeface="微软雅黑" panose="020B0503020204020204" pitchFamily="34" charset="-122"/>
                <a:ea typeface="微软雅黑" panose="020B0503020204020204" pitchFamily="34" charset="-122"/>
                <a:cs typeface="+mn-cs"/>
              </a:rPr>
              <a:t>难点：模态间的巨大差异</a:t>
            </a:r>
            <a:endParaRPr kumimoji="0" lang="zh-CN" altLang="en-US" sz="1600" b="0" i="0" u="none" strike="noStrike" kern="1200" cap="none" spc="0" normalizeH="0" baseline="0" noProof="0" dirty="0">
              <a:ln>
                <a:noFill/>
              </a:ln>
              <a:solidFill>
                <a:srgbClr val="F57365">
                  <a:lumMod val="50000"/>
                </a:srgbClr>
              </a:solidFill>
              <a:effectLst/>
              <a:uLnTx/>
              <a:uFillTx/>
              <a:latin typeface="Calibri" panose="020F0502020204030204"/>
              <a:ea typeface="宋体" panose="02010600030101010101" pitchFamily="2" charset="-122"/>
              <a:cs typeface="+mn-cs"/>
            </a:endParaRPr>
          </a:p>
        </p:txBody>
      </p:sp>
      <p:grpSp>
        <p:nvGrpSpPr>
          <p:cNvPr id="4" name="组合 3"/>
          <p:cNvGrpSpPr/>
          <p:nvPr/>
        </p:nvGrpSpPr>
        <p:grpSpPr>
          <a:xfrm>
            <a:off x="4470534" y="1436694"/>
            <a:ext cx="3816424" cy="3326365"/>
            <a:chOff x="6612899" y="1657449"/>
            <a:chExt cx="5355434" cy="4433906"/>
          </a:xfrm>
        </p:grpSpPr>
        <p:sp>
          <p:nvSpPr>
            <p:cNvPr id="28" name="文本框 27"/>
            <p:cNvSpPr txBox="1"/>
            <p:nvPr/>
          </p:nvSpPr>
          <p:spPr>
            <a:xfrm>
              <a:off x="6612899" y="1657449"/>
              <a:ext cx="5355434" cy="535531"/>
            </a:xfrm>
            <a:prstGeom prst="rect">
              <a:avLst/>
            </a:prstGeom>
            <a:noFill/>
          </p:spPr>
          <p:txBody>
            <a:bodyPr wrap="square">
              <a:spAutoFit/>
            </a:bodyPr>
            <a:lstStyle/>
            <a:p>
              <a:pPr>
                <a:lnSpc>
                  <a:spcPct val="120000"/>
                </a:lnSpc>
              </a:pPr>
              <a:r>
                <a:rPr lang="zh-CN" altLang="en-US" sz="1200" b="1" dirty="0">
                  <a:latin typeface="微软雅黑" panose="020B0503020204020204" pitchFamily="34" charset="-122"/>
                  <a:ea typeface="微软雅黑" panose="020B0503020204020204" pitchFamily="34" charset="-122"/>
                </a:rPr>
                <a:t>跨模态行人重识别</a:t>
              </a:r>
              <a:r>
                <a:rPr lang="zh-CN" altLang="en-US" sz="1200" dirty="0">
                  <a:latin typeface="微软雅黑" panose="020B0503020204020204" pitchFamily="34" charset="-122"/>
                  <a:ea typeface="微软雅黑" panose="020B0503020204020204" pitchFamily="34" charset="-122"/>
                </a:rPr>
                <a:t>任务中待匹配的行人图像分别属于不同的模态，匹配难度更大。</a:t>
              </a:r>
            </a:p>
          </p:txBody>
        </p:sp>
        <p:pic>
          <p:nvPicPr>
            <p:cNvPr id="32" name="图片 3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772171" y="2365828"/>
              <a:ext cx="5036890" cy="3725527"/>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模型结构</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p:cNvPicPr>
            <a:picLocks noChangeAspect="1"/>
          </p:cNvPicPr>
          <p:nvPr/>
        </p:nvPicPr>
        <p:blipFill>
          <a:blip r:embed="rId3"/>
          <a:stretch>
            <a:fillRect/>
          </a:stretch>
        </p:blipFill>
        <p:spPr>
          <a:xfrm>
            <a:off x="1175797" y="769743"/>
            <a:ext cx="7053123" cy="43222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数据集介绍</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p:cNvSpPr txBox="1"/>
          <p:nvPr/>
        </p:nvSpPr>
        <p:spPr>
          <a:xfrm>
            <a:off x="454489" y="769838"/>
            <a:ext cx="3541447" cy="1892826"/>
          </a:xfrm>
          <a:prstGeom prst="rect">
            <a:avLst/>
          </a:prstGeom>
          <a:noFill/>
        </p:spPr>
        <p:txBody>
          <a:bodyPr wrap="square" rtlCol="0">
            <a:spAutoFit/>
          </a:bodyPr>
          <a:lstStyle/>
          <a:p>
            <a:r>
              <a:rPr lang="zh-CN" altLang="en-US" dirty="0"/>
              <a:t>论文的</a:t>
            </a:r>
            <a:r>
              <a:rPr lang="en-US" altLang="zh-CN" dirty="0"/>
              <a:t>EXPERIMENTS</a:t>
            </a:r>
            <a:r>
              <a:rPr lang="zh-CN" altLang="en-US" dirty="0"/>
              <a:t>部分</a:t>
            </a:r>
            <a:endParaRPr lang="en-US" altLang="zh-CN" dirty="0"/>
          </a:p>
          <a:p>
            <a:endParaRPr lang="en-US" altLang="zh-CN" dirty="0"/>
          </a:p>
          <a:p>
            <a:endParaRPr lang="en-US" altLang="zh-CN" dirty="0"/>
          </a:p>
          <a:p>
            <a:r>
              <a:rPr lang="en-US" altLang="zh-CN" sz="900" dirty="0"/>
              <a:t>SYSU-MM01</a:t>
            </a:r>
            <a:r>
              <a:rPr lang="zh-CN" altLang="en-US" sz="900" dirty="0"/>
              <a:t>下载：通过网盘分享的文件：</a:t>
            </a:r>
            <a:r>
              <a:rPr lang="en-US" altLang="zh-CN" sz="900" dirty="0"/>
              <a:t>SYSU-MM01.zip</a:t>
            </a:r>
            <a:r>
              <a:rPr lang="zh-CN" altLang="en-US" sz="900" dirty="0"/>
              <a:t>链接</a:t>
            </a:r>
            <a:r>
              <a:rPr lang="en-US" altLang="zh-CN" sz="900" dirty="0"/>
              <a:t>: https://pan.baidu.com/s/1SafKP5xFieX_uUlakN8FcA?pwd=d1er </a:t>
            </a:r>
            <a:r>
              <a:rPr lang="zh-CN" altLang="en-US" sz="900" dirty="0"/>
              <a:t>提取码</a:t>
            </a:r>
            <a:r>
              <a:rPr lang="en-US" altLang="zh-CN" sz="900" dirty="0"/>
              <a:t>: d1er --</a:t>
            </a:r>
            <a:r>
              <a:rPr lang="zh-CN" altLang="en-US" sz="900" dirty="0"/>
              <a:t>来自百度网盘超级会员</a:t>
            </a:r>
            <a:r>
              <a:rPr lang="en-US" altLang="zh-CN" sz="900" dirty="0"/>
              <a:t>v1</a:t>
            </a:r>
            <a:r>
              <a:rPr lang="zh-CN" altLang="en-US" sz="900" dirty="0"/>
              <a:t>的分享</a:t>
            </a:r>
            <a:endParaRPr lang="en-US" altLang="zh-CN" sz="900" dirty="0"/>
          </a:p>
          <a:p>
            <a:endParaRPr lang="en-US" altLang="zh-CN" sz="900" dirty="0"/>
          </a:p>
          <a:p>
            <a:r>
              <a:rPr lang="en-US" altLang="zh-CN" sz="900" dirty="0" err="1"/>
              <a:t>RegDB</a:t>
            </a:r>
            <a:r>
              <a:rPr lang="zh-CN" altLang="en-US" sz="900" dirty="0"/>
              <a:t>下载：通过网盘分享的文件：</a:t>
            </a:r>
            <a:r>
              <a:rPr lang="en-US" altLang="zh-CN" sz="900" dirty="0"/>
              <a:t>RegDB.zip</a:t>
            </a:r>
            <a:r>
              <a:rPr lang="zh-CN" altLang="en-US" sz="900" dirty="0"/>
              <a:t>链接</a:t>
            </a:r>
            <a:r>
              <a:rPr lang="en-US" altLang="zh-CN" sz="900" dirty="0"/>
              <a:t>: https://pan.baidu.com/s/1MUFb9S0qPdDvOs1AYY5sSg?pwd=mxxf </a:t>
            </a:r>
            <a:r>
              <a:rPr lang="zh-CN" altLang="en-US" sz="900" dirty="0"/>
              <a:t>提取码</a:t>
            </a:r>
            <a:r>
              <a:rPr lang="en-US" altLang="zh-CN" sz="900" dirty="0"/>
              <a:t>: </a:t>
            </a:r>
            <a:r>
              <a:rPr lang="en-US" altLang="zh-CN" sz="900" dirty="0" err="1"/>
              <a:t>mxxf</a:t>
            </a:r>
            <a:r>
              <a:rPr lang="en-US" altLang="zh-CN" sz="900" dirty="0"/>
              <a:t> --</a:t>
            </a:r>
            <a:r>
              <a:rPr lang="zh-CN" altLang="en-US" sz="900" dirty="0"/>
              <a:t>来自百度网盘超级会员</a:t>
            </a:r>
            <a:r>
              <a:rPr lang="en-US" altLang="zh-CN" sz="900" dirty="0"/>
              <a:t>v1</a:t>
            </a:r>
            <a:r>
              <a:rPr lang="zh-CN" altLang="en-US" sz="900" dirty="0"/>
              <a:t>的分享</a:t>
            </a:r>
          </a:p>
        </p:txBody>
      </p:sp>
      <p:pic>
        <p:nvPicPr>
          <p:cNvPr id="2" name="图片 1"/>
          <p:cNvPicPr>
            <a:picLocks noChangeAspect="1"/>
          </p:cNvPicPr>
          <p:nvPr/>
        </p:nvPicPr>
        <p:blipFill>
          <a:blip r:embed="rId3"/>
          <a:stretch>
            <a:fillRect/>
          </a:stretch>
        </p:blipFill>
        <p:spPr>
          <a:xfrm>
            <a:off x="4355976" y="569063"/>
            <a:ext cx="4633993" cy="42545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评测指标介绍</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p:cNvPicPr>
            <a:picLocks noChangeAspect="1"/>
          </p:cNvPicPr>
          <p:nvPr/>
        </p:nvPicPr>
        <p:blipFill>
          <a:blip r:embed="rId3"/>
          <a:stretch>
            <a:fillRect/>
          </a:stretch>
        </p:blipFill>
        <p:spPr>
          <a:xfrm>
            <a:off x="601787" y="1516660"/>
            <a:ext cx="6535018" cy="2952328"/>
          </a:xfrm>
          <a:prstGeom prst="rect">
            <a:avLst/>
          </a:prstGeom>
        </p:spPr>
      </p:pic>
      <p:sp>
        <p:nvSpPr>
          <p:cNvPr id="4" name="文本框 3"/>
          <p:cNvSpPr txBox="1"/>
          <p:nvPr/>
        </p:nvSpPr>
        <p:spPr>
          <a:xfrm>
            <a:off x="632333" y="915566"/>
            <a:ext cx="2660152" cy="369332"/>
          </a:xfrm>
          <a:prstGeom prst="rect">
            <a:avLst/>
          </a:prstGeom>
          <a:noFill/>
        </p:spPr>
        <p:txBody>
          <a:bodyPr wrap="none" rtlCol="0">
            <a:spAutoFit/>
          </a:bodyPr>
          <a:lstStyle/>
          <a:p>
            <a:r>
              <a:rPr lang="zh-CN" altLang="en-US" dirty="0"/>
              <a:t>论文的</a:t>
            </a:r>
            <a:r>
              <a:rPr lang="en-US" altLang="zh-CN" dirty="0"/>
              <a:t>EXPERIMENTS</a:t>
            </a:r>
            <a:r>
              <a:rPr lang="zh-CN" altLang="en-US" dirty="0"/>
              <a:t>部分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模型训练</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p:cNvPicPr>
            <a:picLocks noChangeAspect="1"/>
          </p:cNvPicPr>
          <p:nvPr/>
        </p:nvPicPr>
        <p:blipFill>
          <a:blip r:embed="rId3"/>
          <a:stretch>
            <a:fillRect/>
          </a:stretch>
        </p:blipFill>
        <p:spPr>
          <a:xfrm>
            <a:off x="4932040" y="1203598"/>
            <a:ext cx="4211960" cy="2792065"/>
          </a:xfrm>
          <a:prstGeom prst="rect">
            <a:avLst/>
          </a:prstGeom>
        </p:spPr>
      </p:pic>
      <p:pic>
        <p:nvPicPr>
          <p:cNvPr id="2" name="图片 1"/>
          <p:cNvPicPr>
            <a:picLocks noChangeAspect="1"/>
          </p:cNvPicPr>
          <p:nvPr/>
        </p:nvPicPr>
        <p:blipFill>
          <a:blip r:embed="rId4"/>
          <a:stretch>
            <a:fillRect/>
          </a:stretch>
        </p:blipFill>
        <p:spPr>
          <a:xfrm>
            <a:off x="323528" y="975154"/>
            <a:ext cx="4536504" cy="335213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超参实验</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rotWithShape="1">
          <a:blip r:embed="rId3"/>
          <a:srcRect l="-1" r="42192"/>
          <a:stretch>
            <a:fillRect/>
          </a:stretch>
        </p:blipFill>
        <p:spPr>
          <a:xfrm>
            <a:off x="83397" y="717437"/>
            <a:ext cx="4920652" cy="4014553"/>
          </a:xfrm>
          <a:prstGeom prst="rect">
            <a:avLst/>
          </a:prstGeom>
        </p:spPr>
      </p:pic>
      <p:pic>
        <p:nvPicPr>
          <p:cNvPr id="10" name="图片 9"/>
          <p:cNvPicPr>
            <a:picLocks noChangeAspect="1"/>
          </p:cNvPicPr>
          <p:nvPr/>
        </p:nvPicPr>
        <p:blipFill>
          <a:blip r:embed="rId4"/>
          <a:stretch>
            <a:fillRect/>
          </a:stretch>
        </p:blipFill>
        <p:spPr>
          <a:xfrm>
            <a:off x="5100510" y="915566"/>
            <a:ext cx="4043490" cy="335213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消融实验</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rotWithShape="1">
          <a:blip r:embed="rId3"/>
          <a:srcRect l="1" r="-476" b="63304"/>
          <a:stretch>
            <a:fillRect/>
          </a:stretch>
        </p:blipFill>
        <p:spPr>
          <a:xfrm>
            <a:off x="332268" y="901312"/>
            <a:ext cx="3949227" cy="1879416"/>
          </a:xfrm>
          <a:prstGeom prst="rect">
            <a:avLst/>
          </a:prstGeom>
        </p:spPr>
      </p:pic>
      <p:pic>
        <p:nvPicPr>
          <p:cNvPr id="4" name="图片 3"/>
          <p:cNvPicPr>
            <a:picLocks noChangeAspect="1"/>
          </p:cNvPicPr>
          <p:nvPr/>
        </p:nvPicPr>
        <p:blipFill>
          <a:blip r:embed="rId4"/>
          <a:stretch>
            <a:fillRect/>
          </a:stretch>
        </p:blipFill>
        <p:spPr>
          <a:xfrm>
            <a:off x="323528" y="3075806"/>
            <a:ext cx="5322739" cy="1823970"/>
          </a:xfrm>
          <a:prstGeom prst="rect">
            <a:avLst/>
          </a:prstGeom>
        </p:spPr>
      </p:pic>
      <p:pic>
        <p:nvPicPr>
          <p:cNvPr id="5" name="图片 4"/>
          <p:cNvPicPr>
            <a:picLocks noChangeAspect="1"/>
          </p:cNvPicPr>
          <p:nvPr/>
        </p:nvPicPr>
        <p:blipFill>
          <a:blip r:embed="rId5"/>
          <a:stretch>
            <a:fillRect/>
          </a:stretch>
        </p:blipFill>
        <p:spPr>
          <a:xfrm>
            <a:off x="4572000" y="901312"/>
            <a:ext cx="4499992" cy="2013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395536" y="261723"/>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消融实验</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p:cNvPicPr>
            <a:picLocks noChangeAspect="1"/>
          </p:cNvPicPr>
          <p:nvPr/>
        </p:nvPicPr>
        <p:blipFill rotWithShape="1">
          <a:blip r:embed="rId3"/>
          <a:srcRect t="-4494" r="29071" b="-1"/>
          <a:stretch>
            <a:fillRect/>
          </a:stretch>
        </p:blipFill>
        <p:spPr>
          <a:xfrm>
            <a:off x="1612403" y="470044"/>
            <a:ext cx="6264696" cy="464709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实验结果分析</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3"/>
          <a:stretch>
            <a:fillRect/>
          </a:stretch>
        </p:blipFill>
        <p:spPr>
          <a:xfrm>
            <a:off x="937709" y="3462934"/>
            <a:ext cx="7184020" cy="1742906"/>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709" y="1131590"/>
            <a:ext cx="7216085" cy="1910277"/>
          </a:xfrm>
          <a:prstGeom prst="rect">
            <a:avLst/>
          </a:prstGeom>
        </p:spPr>
      </p:pic>
      <p:sp>
        <p:nvSpPr>
          <p:cNvPr id="4" name="文本框 3"/>
          <p:cNvSpPr txBox="1"/>
          <p:nvPr/>
        </p:nvSpPr>
        <p:spPr>
          <a:xfrm>
            <a:off x="488613" y="736391"/>
            <a:ext cx="2274020" cy="369332"/>
          </a:xfrm>
          <a:prstGeom prst="rect">
            <a:avLst/>
          </a:prstGeom>
          <a:noFill/>
        </p:spPr>
        <p:txBody>
          <a:bodyPr wrap="none" rtlCol="0">
            <a:spAutoFit/>
          </a:bodyPr>
          <a:lstStyle/>
          <a:p>
            <a:r>
              <a:rPr lang="en-US" altLang="zh-CN" dirty="0"/>
              <a:t>SYSU-MM01</a:t>
            </a:r>
            <a:r>
              <a:rPr lang="zh-CN" altLang="en-US" dirty="0"/>
              <a:t>数据集：</a:t>
            </a:r>
          </a:p>
        </p:txBody>
      </p:sp>
      <p:sp>
        <p:nvSpPr>
          <p:cNvPr id="11" name="文本框 10"/>
          <p:cNvSpPr txBox="1"/>
          <p:nvPr/>
        </p:nvSpPr>
        <p:spPr>
          <a:xfrm>
            <a:off x="474400" y="3066068"/>
            <a:ext cx="1721112" cy="369332"/>
          </a:xfrm>
          <a:prstGeom prst="rect">
            <a:avLst/>
          </a:prstGeom>
          <a:noFill/>
        </p:spPr>
        <p:txBody>
          <a:bodyPr wrap="none" rtlCol="0">
            <a:spAutoFit/>
          </a:bodyPr>
          <a:lstStyle/>
          <a:p>
            <a:r>
              <a:rPr lang="en-US" altLang="zh-CN" dirty="0" err="1"/>
              <a:t>RegDB</a:t>
            </a:r>
            <a:r>
              <a:rPr lang="zh-CN" altLang="en-US" dirty="0"/>
              <a:t>数据集：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9"/>
          <p:cNvSpPr>
            <a:spLocks noChangeArrowheads="1"/>
          </p:cNvSpPr>
          <p:nvPr/>
        </p:nvSpPr>
        <p:spPr bwMode="auto">
          <a:xfrm>
            <a:off x="416159" y="278281"/>
            <a:ext cx="2778059"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实验要求</a:t>
            </a:r>
            <a:endParaRPr lang="en-US" altLang="zh-CN" sz="2000" dirty="0">
              <a:solidFill>
                <a:schemeClr val="accent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487913" y="627787"/>
            <a:ext cx="899592" cy="56017"/>
            <a:chOff x="0" y="2842590"/>
            <a:chExt cx="7054752" cy="89199"/>
          </a:xfrm>
        </p:grpSpPr>
        <p:sp>
          <p:nvSpPr>
            <p:cNvPr id="49" name="矩形 48"/>
            <p:cNvSpPr/>
            <p:nvPr/>
          </p:nvSpPr>
          <p:spPr>
            <a:xfrm>
              <a:off x="0" y="2842590"/>
              <a:ext cx="1763688" cy="89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763688" y="2842590"/>
              <a:ext cx="1763688" cy="891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3527376" y="2842590"/>
              <a:ext cx="1763688" cy="891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91064" y="2842590"/>
              <a:ext cx="1763688" cy="89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p:cNvSpPr txBox="1"/>
          <p:nvPr/>
        </p:nvSpPr>
        <p:spPr>
          <a:xfrm>
            <a:off x="465217" y="987574"/>
            <a:ext cx="7682865" cy="1384995"/>
          </a:xfrm>
          <a:prstGeom prst="rect">
            <a:avLst/>
          </a:prstGeom>
          <a:noFill/>
        </p:spPr>
        <p:txBody>
          <a:bodyPr wrap="square" rtlCol="0" anchor="t">
            <a:spAutoFit/>
          </a:bodyPr>
          <a:lstStyle/>
          <a:p>
            <a:pPr fontAlgn="auto">
              <a:lnSpc>
                <a:spcPct val="150000"/>
              </a:lnSpc>
            </a:pPr>
            <a:r>
              <a:rPr lang="zh-CN" sz="1400" b="1" dirty="0">
                <a:latin typeface="Times New Roman" panose="02020603050405020304" pitchFamily="18" charset="0"/>
                <a:ea typeface="微软雅黑" panose="020B0503020204020204" pitchFamily="34" charset="-122"/>
                <a:cs typeface="Times New Roman" panose="02020603050405020304" pitchFamily="18" charset="0"/>
              </a:rPr>
              <a:t>实验具体要求：</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人一组</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实验报告</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。（实验报告需涵盖</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摘要（工作总结、分工）</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任务背景介绍</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模型介绍、数据集及评测指标</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超参实验和消融实验情况、遇到的问题及解决方法等</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最后</a:t>
            </a:r>
            <a:r>
              <a:rPr lang="zh-CN" altLang="zh-CN" sz="1400" b="1" dirty="0">
                <a:latin typeface="Times New Roman" panose="02020603050405020304" pitchFamily="18" charset="0"/>
                <a:ea typeface="微软雅黑" panose="020B0503020204020204" pitchFamily="34" charset="-122"/>
                <a:cs typeface="Times New Roman" panose="02020603050405020304" pitchFamily="18" charset="0"/>
              </a:rPr>
              <a:t>以小组为单位</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提交压缩包</a:t>
            </a:r>
            <a:r>
              <a:rPr lang="zh-CN" altLang="zh-CN" sz="1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其中包含</a:t>
            </a:r>
            <a:r>
              <a:rPr lang="zh-CN" altLang="zh-CN" sz="1400" b="1" dirty="0">
                <a:latin typeface="Times New Roman" panose="02020603050405020304" pitchFamily="18" charset="0"/>
                <a:ea typeface="微软雅黑" panose="020B0503020204020204" pitchFamily="34" charset="-122"/>
                <a:cs typeface="Times New Roman" panose="02020603050405020304" pitchFamily="18" charset="0"/>
              </a:rPr>
              <a:t>讲解视频、实验报告、相关代码；</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命名格式为</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数字图像处理实验四</a:t>
            </a:r>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组长学号</a:t>
            </a:r>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组长</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姓名</a:t>
            </a:r>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组员</a:t>
            </a:r>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姓名</a:t>
            </a:r>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组员</a:t>
            </a:r>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姓名</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，发送至</a:t>
            </a:r>
            <a:r>
              <a:rPr lang="en-US" altLang="zh-CN" sz="1400" dirty="0" err="1">
                <a:solidFill>
                  <a:srgbClr val="000000"/>
                </a:solidFill>
                <a:latin typeface="Times New Roman" panose="02020603050405020304" pitchFamily="18" charset="0"/>
                <a:sym typeface="+mn-ea"/>
              </a:rPr>
              <a:t>hokirn</a:t>
            </a:r>
            <a:r>
              <a:rPr lang="zh-CN" altLang="zh-CN" sz="1400" dirty="0">
                <a:solidFill>
                  <a:srgbClr val="000000"/>
                </a:solidFill>
                <a:latin typeface="Times New Roman" panose="02020603050405020304" pitchFamily="18" charset="0"/>
                <a:sym typeface="+mn-ea"/>
              </a:rPr>
              <a:t>@163.com</a:t>
            </a:r>
            <a:endParaRPr lang="zh-CN" altLang="zh-CN" sz="1400" dirty="0">
              <a:solidFill>
                <a:srgbClr val="000000"/>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6"/>
          <p:cNvSpPr>
            <a:spLocks noEditPoints="1"/>
          </p:cNvSpPr>
          <p:nvPr/>
        </p:nvSpPr>
        <p:spPr bwMode="auto">
          <a:xfrm>
            <a:off x="4343400" y="1158093"/>
            <a:ext cx="457200" cy="593986"/>
          </a:xfrm>
          <a:custGeom>
            <a:avLst/>
            <a:gdLst>
              <a:gd name="T0" fmla="*/ 891 w 1347"/>
              <a:gd name="T1" fmla="*/ 639 h 1750"/>
              <a:gd name="T2" fmla="*/ 673 w 1347"/>
              <a:gd name="T3" fmla="*/ 728 h 1750"/>
              <a:gd name="T4" fmla="*/ 555 w 1347"/>
              <a:gd name="T5" fmla="*/ 706 h 1750"/>
              <a:gd name="T6" fmla="*/ 456 w 1347"/>
              <a:gd name="T7" fmla="*/ 639 h 1750"/>
              <a:gd name="T8" fmla="*/ 398 w 1347"/>
              <a:gd name="T9" fmla="*/ 639 h 1750"/>
              <a:gd name="T10" fmla="*/ 397 w 1347"/>
              <a:gd name="T11" fmla="*/ 696 h 1750"/>
              <a:gd name="T12" fmla="*/ 525 w 1347"/>
              <a:gd name="T13" fmla="*/ 781 h 1750"/>
              <a:gd name="T14" fmla="*/ 673 w 1347"/>
              <a:gd name="T15" fmla="*/ 810 h 1750"/>
              <a:gd name="T16" fmla="*/ 949 w 1347"/>
              <a:gd name="T17" fmla="*/ 696 h 1750"/>
              <a:gd name="T18" fmla="*/ 949 w 1347"/>
              <a:gd name="T19" fmla="*/ 639 h 1750"/>
              <a:gd name="T20" fmla="*/ 891 w 1347"/>
              <a:gd name="T21" fmla="*/ 639 h 1750"/>
              <a:gd name="T22" fmla="*/ 987 w 1347"/>
              <a:gd name="T23" fmla="*/ 1525 h 1750"/>
              <a:gd name="T24" fmla="*/ 987 w 1347"/>
              <a:gd name="T25" fmla="*/ 1525 h 1750"/>
              <a:gd name="T26" fmla="*/ 360 w 1347"/>
              <a:gd name="T27" fmla="*/ 1525 h 1750"/>
              <a:gd name="T28" fmla="*/ 318 w 1347"/>
              <a:gd name="T29" fmla="*/ 1566 h 1750"/>
              <a:gd name="T30" fmla="*/ 360 w 1347"/>
              <a:gd name="T31" fmla="*/ 1607 h 1750"/>
              <a:gd name="T32" fmla="*/ 987 w 1347"/>
              <a:gd name="T33" fmla="*/ 1607 h 1750"/>
              <a:gd name="T34" fmla="*/ 1027 w 1347"/>
              <a:gd name="T35" fmla="*/ 1566 h 1750"/>
              <a:gd name="T36" fmla="*/ 987 w 1347"/>
              <a:gd name="T37" fmla="*/ 1525 h 1750"/>
              <a:gd name="T38" fmla="*/ 1347 w 1347"/>
              <a:gd name="T39" fmla="*/ 674 h 1750"/>
              <a:gd name="T40" fmla="*/ 1347 w 1347"/>
              <a:gd name="T41" fmla="*/ 674 h 1750"/>
              <a:gd name="T42" fmla="*/ 1149 w 1347"/>
              <a:gd name="T43" fmla="*/ 198 h 1750"/>
              <a:gd name="T44" fmla="*/ 673 w 1347"/>
              <a:gd name="T45" fmla="*/ 0 h 1750"/>
              <a:gd name="T46" fmla="*/ 197 w 1347"/>
              <a:gd name="T47" fmla="*/ 198 h 1750"/>
              <a:gd name="T48" fmla="*/ 0 w 1347"/>
              <a:gd name="T49" fmla="*/ 674 h 1750"/>
              <a:gd name="T50" fmla="*/ 86 w 1347"/>
              <a:gd name="T51" fmla="*/ 1005 h 1750"/>
              <a:gd name="T52" fmla="*/ 292 w 1347"/>
              <a:gd name="T53" fmla="*/ 1229 h 1750"/>
              <a:gd name="T54" fmla="*/ 292 w 1347"/>
              <a:gd name="T55" fmla="*/ 1418 h 1750"/>
              <a:gd name="T56" fmla="*/ 360 w 1347"/>
              <a:gd name="T57" fmla="*/ 1487 h 1750"/>
              <a:gd name="T58" fmla="*/ 987 w 1347"/>
              <a:gd name="T59" fmla="*/ 1487 h 1750"/>
              <a:gd name="T60" fmla="*/ 1055 w 1347"/>
              <a:gd name="T61" fmla="*/ 1418 h 1750"/>
              <a:gd name="T62" fmla="*/ 1055 w 1347"/>
              <a:gd name="T63" fmla="*/ 1229 h 1750"/>
              <a:gd name="T64" fmla="*/ 1260 w 1347"/>
              <a:gd name="T65" fmla="*/ 1005 h 1750"/>
              <a:gd name="T66" fmla="*/ 1347 w 1347"/>
              <a:gd name="T67" fmla="*/ 674 h 1750"/>
              <a:gd name="T68" fmla="*/ 1142 w 1347"/>
              <a:gd name="T69" fmla="*/ 938 h 1750"/>
              <a:gd name="T70" fmla="*/ 1142 w 1347"/>
              <a:gd name="T71" fmla="*/ 938 h 1750"/>
              <a:gd name="T72" fmla="*/ 1141 w 1347"/>
              <a:gd name="T73" fmla="*/ 938 h 1750"/>
              <a:gd name="T74" fmla="*/ 951 w 1347"/>
              <a:gd name="T75" fmla="*/ 1135 h 1750"/>
              <a:gd name="T76" fmla="*/ 919 w 1347"/>
              <a:gd name="T77" fmla="*/ 1193 h 1750"/>
              <a:gd name="T78" fmla="*/ 918 w 1347"/>
              <a:gd name="T79" fmla="*/ 1193 h 1750"/>
              <a:gd name="T80" fmla="*/ 918 w 1347"/>
              <a:gd name="T81" fmla="*/ 1350 h 1750"/>
              <a:gd name="T82" fmla="*/ 429 w 1347"/>
              <a:gd name="T83" fmla="*/ 1350 h 1750"/>
              <a:gd name="T84" fmla="*/ 429 w 1347"/>
              <a:gd name="T85" fmla="*/ 1193 h 1750"/>
              <a:gd name="T86" fmla="*/ 389 w 1347"/>
              <a:gd name="T87" fmla="*/ 1132 h 1750"/>
              <a:gd name="T88" fmla="*/ 205 w 1347"/>
              <a:gd name="T89" fmla="*/ 938 h 1750"/>
              <a:gd name="T90" fmla="*/ 136 w 1347"/>
              <a:gd name="T91" fmla="*/ 674 h 1750"/>
              <a:gd name="T92" fmla="*/ 294 w 1347"/>
              <a:gd name="T93" fmla="*/ 295 h 1750"/>
              <a:gd name="T94" fmla="*/ 673 w 1347"/>
              <a:gd name="T95" fmla="*/ 137 h 1750"/>
              <a:gd name="T96" fmla="*/ 1053 w 1347"/>
              <a:gd name="T97" fmla="*/ 295 h 1750"/>
              <a:gd name="T98" fmla="*/ 1210 w 1347"/>
              <a:gd name="T99" fmla="*/ 674 h 1750"/>
              <a:gd name="T100" fmla="*/ 1142 w 1347"/>
              <a:gd name="T101" fmla="*/ 938 h 1750"/>
              <a:gd name="T102" fmla="*/ 855 w 1347"/>
              <a:gd name="T103" fmla="*/ 1668 h 1750"/>
              <a:gd name="T104" fmla="*/ 855 w 1347"/>
              <a:gd name="T105" fmla="*/ 1668 h 1750"/>
              <a:gd name="T106" fmla="*/ 492 w 1347"/>
              <a:gd name="T107" fmla="*/ 1668 h 1750"/>
              <a:gd name="T108" fmla="*/ 450 w 1347"/>
              <a:gd name="T109" fmla="*/ 1709 h 1750"/>
              <a:gd name="T110" fmla="*/ 492 w 1347"/>
              <a:gd name="T111" fmla="*/ 1750 h 1750"/>
              <a:gd name="T112" fmla="*/ 855 w 1347"/>
              <a:gd name="T113" fmla="*/ 1750 h 1750"/>
              <a:gd name="T114" fmla="*/ 896 w 1347"/>
              <a:gd name="T115" fmla="*/ 1709 h 1750"/>
              <a:gd name="T116" fmla="*/ 855 w 1347"/>
              <a:gd name="T117" fmla="*/ 1668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47" h="1750">
                <a:moveTo>
                  <a:pt x="891" y="639"/>
                </a:moveTo>
                <a:cubicBezTo>
                  <a:pt x="836" y="694"/>
                  <a:pt x="758" y="728"/>
                  <a:pt x="673" y="728"/>
                </a:cubicBezTo>
                <a:cubicBezTo>
                  <a:pt x="631" y="728"/>
                  <a:pt x="591" y="720"/>
                  <a:pt x="555" y="706"/>
                </a:cubicBezTo>
                <a:cubicBezTo>
                  <a:pt x="517" y="691"/>
                  <a:pt x="484" y="667"/>
                  <a:pt x="456" y="639"/>
                </a:cubicBezTo>
                <a:cubicBezTo>
                  <a:pt x="440" y="623"/>
                  <a:pt x="413" y="623"/>
                  <a:pt x="398" y="639"/>
                </a:cubicBezTo>
                <a:cubicBezTo>
                  <a:pt x="382" y="655"/>
                  <a:pt x="382" y="681"/>
                  <a:pt x="397" y="696"/>
                </a:cubicBezTo>
                <a:cubicBezTo>
                  <a:pt x="433" y="732"/>
                  <a:pt x="477" y="761"/>
                  <a:pt x="525" y="781"/>
                </a:cubicBezTo>
                <a:cubicBezTo>
                  <a:pt x="570" y="800"/>
                  <a:pt x="621" y="810"/>
                  <a:pt x="673" y="810"/>
                </a:cubicBezTo>
                <a:cubicBezTo>
                  <a:pt x="781" y="810"/>
                  <a:pt x="878" y="767"/>
                  <a:pt x="949" y="696"/>
                </a:cubicBezTo>
                <a:cubicBezTo>
                  <a:pt x="965" y="681"/>
                  <a:pt x="965" y="655"/>
                  <a:pt x="949" y="639"/>
                </a:cubicBezTo>
                <a:cubicBezTo>
                  <a:pt x="933" y="623"/>
                  <a:pt x="907" y="623"/>
                  <a:pt x="891" y="639"/>
                </a:cubicBezTo>
                <a:close/>
                <a:moveTo>
                  <a:pt x="987" y="1525"/>
                </a:moveTo>
                <a:cubicBezTo>
                  <a:pt x="987" y="1525"/>
                  <a:pt x="987" y="1525"/>
                  <a:pt x="987" y="1525"/>
                </a:cubicBezTo>
                <a:cubicBezTo>
                  <a:pt x="360" y="1525"/>
                  <a:pt x="360" y="1525"/>
                  <a:pt x="360" y="1525"/>
                </a:cubicBezTo>
                <a:cubicBezTo>
                  <a:pt x="337" y="1525"/>
                  <a:pt x="318" y="1544"/>
                  <a:pt x="318" y="1566"/>
                </a:cubicBezTo>
                <a:cubicBezTo>
                  <a:pt x="318" y="1589"/>
                  <a:pt x="337" y="1607"/>
                  <a:pt x="360" y="1607"/>
                </a:cubicBezTo>
                <a:cubicBezTo>
                  <a:pt x="987" y="1607"/>
                  <a:pt x="987" y="1607"/>
                  <a:pt x="987" y="1607"/>
                </a:cubicBezTo>
                <a:cubicBezTo>
                  <a:pt x="1009" y="1607"/>
                  <a:pt x="1027" y="1589"/>
                  <a:pt x="1027" y="1566"/>
                </a:cubicBezTo>
                <a:cubicBezTo>
                  <a:pt x="1027" y="1544"/>
                  <a:pt x="1009" y="1525"/>
                  <a:pt x="987" y="1525"/>
                </a:cubicBezTo>
                <a:close/>
                <a:moveTo>
                  <a:pt x="1347" y="674"/>
                </a:moveTo>
                <a:cubicBezTo>
                  <a:pt x="1347" y="674"/>
                  <a:pt x="1347" y="674"/>
                  <a:pt x="1347" y="674"/>
                </a:cubicBezTo>
                <a:cubicBezTo>
                  <a:pt x="1347" y="488"/>
                  <a:pt x="1272" y="320"/>
                  <a:pt x="1149" y="198"/>
                </a:cubicBezTo>
                <a:cubicBezTo>
                  <a:pt x="1027" y="76"/>
                  <a:pt x="859" y="0"/>
                  <a:pt x="673" y="0"/>
                </a:cubicBezTo>
                <a:cubicBezTo>
                  <a:pt x="488" y="0"/>
                  <a:pt x="318" y="76"/>
                  <a:pt x="197" y="198"/>
                </a:cubicBezTo>
                <a:cubicBezTo>
                  <a:pt x="75" y="320"/>
                  <a:pt x="0" y="488"/>
                  <a:pt x="0" y="674"/>
                </a:cubicBezTo>
                <a:cubicBezTo>
                  <a:pt x="0" y="794"/>
                  <a:pt x="31" y="907"/>
                  <a:pt x="86" y="1005"/>
                </a:cubicBezTo>
                <a:cubicBezTo>
                  <a:pt x="138" y="1094"/>
                  <a:pt x="207" y="1171"/>
                  <a:pt x="292" y="1229"/>
                </a:cubicBezTo>
                <a:cubicBezTo>
                  <a:pt x="292" y="1418"/>
                  <a:pt x="292" y="1418"/>
                  <a:pt x="292" y="1418"/>
                </a:cubicBezTo>
                <a:cubicBezTo>
                  <a:pt x="292" y="1456"/>
                  <a:pt x="322" y="1487"/>
                  <a:pt x="360" y="1487"/>
                </a:cubicBezTo>
                <a:cubicBezTo>
                  <a:pt x="987" y="1487"/>
                  <a:pt x="987" y="1487"/>
                  <a:pt x="987" y="1487"/>
                </a:cubicBezTo>
                <a:cubicBezTo>
                  <a:pt x="1025" y="1487"/>
                  <a:pt x="1055" y="1456"/>
                  <a:pt x="1055" y="1418"/>
                </a:cubicBezTo>
                <a:cubicBezTo>
                  <a:pt x="1055" y="1229"/>
                  <a:pt x="1055" y="1229"/>
                  <a:pt x="1055" y="1229"/>
                </a:cubicBezTo>
                <a:cubicBezTo>
                  <a:pt x="1140" y="1171"/>
                  <a:pt x="1210" y="1094"/>
                  <a:pt x="1260" y="1005"/>
                </a:cubicBezTo>
                <a:cubicBezTo>
                  <a:pt x="1316" y="906"/>
                  <a:pt x="1347" y="794"/>
                  <a:pt x="1347" y="674"/>
                </a:cubicBezTo>
                <a:close/>
                <a:moveTo>
                  <a:pt x="1142" y="938"/>
                </a:moveTo>
                <a:cubicBezTo>
                  <a:pt x="1142" y="938"/>
                  <a:pt x="1142" y="938"/>
                  <a:pt x="1142" y="938"/>
                </a:cubicBezTo>
                <a:cubicBezTo>
                  <a:pt x="1141" y="938"/>
                  <a:pt x="1141" y="938"/>
                  <a:pt x="1141" y="938"/>
                </a:cubicBezTo>
                <a:cubicBezTo>
                  <a:pt x="1096" y="1019"/>
                  <a:pt x="1030" y="1087"/>
                  <a:pt x="951" y="1135"/>
                </a:cubicBezTo>
                <a:cubicBezTo>
                  <a:pt x="931" y="1147"/>
                  <a:pt x="919" y="1170"/>
                  <a:pt x="919" y="1193"/>
                </a:cubicBezTo>
                <a:cubicBezTo>
                  <a:pt x="918" y="1193"/>
                  <a:pt x="918" y="1193"/>
                  <a:pt x="918" y="1193"/>
                </a:cubicBezTo>
                <a:cubicBezTo>
                  <a:pt x="918" y="1350"/>
                  <a:pt x="918" y="1350"/>
                  <a:pt x="918" y="1350"/>
                </a:cubicBezTo>
                <a:cubicBezTo>
                  <a:pt x="429" y="1350"/>
                  <a:pt x="429" y="1350"/>
                  <a:pt x="429" y="1350"/>
                </a:cubicBezTo>
                <a:cubicBezTo>
                  <a:pt x="429" y="1193"/>
                  <a:pt x="429" y="1193"/>
                  <a:pt x="429" y="1193"/>
                </a:cubicBezTo>
                <a:cubicBezTo>
                  <a:pt x="429" y="1165"/>
                  <a:pt x="413" y="1142"/>
                  <a:pt x="389" y="1132"/>
                </a:cubicBezTo>
                <a:cubicBezTo>
                  <a:pt x="313" y="1083"/>
                  <a:pt x="249" y="1017"/>
                  <a:pt x="205" y="938"/>
                </a:cubicBezTo>
                <a:cubicBezTo>
                  <a:pt x="161" y="860"/>
                  <a:pt x="136" y="770"/>
                  <a:pt x="136" y="674"/>
                </a:cubicBezTo>
                <a:cubicBezTo>
                  <a:pt x="136" y="527"/>
                  <a:pt x="197" y="392"/>
                  <a:pt x="294" y="295"/>
                </a:cubicBezTo>
                <a:cubicBezTo>
                  <a:pt x="390" y="197"/>
                  <a:pt x="526" y="137"/>
                  <a:pt x="673" y="137"/>
                </a:cubicBezTo>
                <a:cubicBezTo>
                  <a:pt x="821" y="137"/>
                  <a:pt x="956" y="197"/>
                  <a:pt x="1053" y="295"/>
                </a:cubicBezTo>
                <a:cubicBezTo>
                  <a:pt x="1150" y="392"/>
                  <a:pt x="1210" y="527"/>
                  <a:pt x="1210" y="674"/>
                </a:cubicBezTo>
                <a:cubicBezTo>
                  <a:pt x="1210" y="771"/>
                  <a:pt x="1186" y="861"/>
                  <a:pt x="1142" y="938"/>
                </a:cubicBezTo>
                <a:close/>
                <a:moveTo>
                  <a:pt x="855" y="1668"/>
                </a:moveTo>
                <a:cubicBezTo>
                  <a:pt x="855" y="1668"/>
                  <a:pt x="855" y="1668"/>
                  <a:pt x="855" y="1668"/>
                </a:cubicBezTo>
                <a:cubicBezTo>
                  <a:pt x="492" y="1668"/>
                  <a:pt x="492" y="1668"/>
                  <a:pt x="492" y="1668"/>
                </a:cubicBezTo>
                <a:cubicBezTo>
                  <a:pt x="469" y="1668"/>
                  <a:pt x="450" y="1686"/>
                  <a:pt x="450" y="1709"/>
                </a:cubicBezTo>
                <a:cubicBezTo>
                  <a:pt x="450" y="1731"/>
                  <a:pt x="469" y="1750"/>
                  <a:pt x="492" y="1750"/>
                </a:cubicBezTo>
                <a:cubicBezTo>
                  <a:pt x="855" y="1750"/>
                  <a:pt x="855" y="1750"/>
                  <a:pt x="855" y="1750"/>
                </a:cubicBezTo>
                <a:cubicBezTo>
                  <a:pt x="877" y="1750"/>
                  <a:pt x="896" y="1731"/>
                  <a:pt x="896" y="1709"/>
                </a:cubicBezTo>
                <a:cubicBezTo>
                  <a:pt x="896" y="1686"/>
                  <a:pt x="877" y="1668"/>
                  <a:pt x="855" y="1668"/>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2" name="TextBox 21"/>
          <p:cNvSpPr txBox="1"/>
          <p:nvPr/>
        </p:nvSpPr>
        <p:spPr>
          <a:xfrm>
            <a:off x="1475656" y="2088545"/>
            <a:ext cx="6192688" cy="707886"/>
          </a:xfrm>
          <a:prstGeom prst="rect">
            <a:avLst/>
          </a:prstGeom>
          <a:noFill/>
        </p:spPr>
        <p:txBody>
          <a:bodyPr wrap="square" rtlCol="0">
            <a:spAutoFit/>
          </a:bodyPr>
          <a:lstStyle/>
          <a:p>
            <a:pPr algn="ctr"/>
            <a:r>
              <a:rPr lang="en-US" altLang="zh-CN" sz="4000" dirty="0">
                <a:ln w="6350">
                  <a:noFill/>
                </a:ln>
                <a:solidFill>
                  <a:schemeClr val="bg1">
                    <a:lumMod val="50000"/>
                  </a:schemeClr>
                </a:solidFill>
                <a:latin typeface="微软雅黑" panose="020B0503020204020204" pitchFamily="34" charset="-122"/>
                <a:ea typeface="微软雅黑" panose="020B0503020204020204" pitchFamily="34" charset="-122"/>
              </a:rPr>
              <a:t>-END-</a:t>
            </a:r>
            <a:endParaRPr lang="zh-CN" altLang="en-US" sz="4000" dirty="0">
              <a:ln w="6350">
                <a:noFill/>
              </a:ln>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IzZjNhZTEyMmUxODlmNjk0MzQwOGIzZmQzNTU5Y2UifQ=="/>
  <p:tag name="KSO_WPP_MARK_KEY" val="733efe7b-9aa7-4e87-8898-cd077cf6f467"/>
</p:tagLst>
</file>

<file path=ppt/theme/theme1.xml><?xml version="1.0" encoding="utf-8"?>
<a:theme xmlns:a="http://schemas.openxmlformats.org/drawingml/2006/main" name="第一PPT，www.1ppt.com​">
  <a:themeElements>
    <a:clrScheme name="自定义 1">
      <a:dk1>
        <a:srgbClr val="333333"/>
      </a:dk1>
      <a:lt1>
        <a:srgbClr val="FFFFFF"/>
      </a:lt1>
      <a:dk2>
        <a:srgbClr val="333333"/>
      </a:dk2>
      <a:lt2>
        <a:srgbClr val="FFFFFF"/>
      </a:lt2>
      <a:accent1>
        <a:srgbClr val="1D69A3"/>
      </a:accent1>
      <a:accent2>
        <a:srgbClr val="84CBC3"/>
      </a:accent2>
      <a:accent3>
        <a:srgbClr val="F8D158"/>
      </a:accent3>
      <a:accent4>
        <a:srgbClr val="F57365"/>
      </a:accent4>
      <a:accent5>
        <a:srgbClr val="7FC9EC"/>
      </a:accent5>
      <a:accent6>
        <a:srgbClr val="8689D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824</Words>
  <Application>Microsoft Office PowerPoint</Application>
  <PresentationFormat>全屏显示(16:9)</PresentationFormat>
  <Paragraphs>92</Paragraphs>
  <Slides>19</Slides>
  <Notes>18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等线</vt:lpstr>
      <vt:lpstr>微软雅黑</vt:lpstr>
      <vt:lpstr>Arial</vt:lpstr>
      <vt:lpstr>Calibri</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极简毕业答辩</dc:title>
  <dc:creator>第一PPT</dc:creator>
  <cp:keywords>www.1ppt.com</cp:keywords>
  <dc:description>www.1ppt.com</dc:description>
  <cp:lastModifiedBy>恩杰 何</cp:lastModifiedBy>
  <cp:revision>274</cp:revision>
  <dcterms:created xsi:type="dcterms:W3CDTF">2016-04-09T09:29:00Z</dcterms:created>
  <dcterms:modified xsi:type="dcterms:W3CDTF">2025-12-11T07:56:13Z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9DC213D94E74410A82E30F20F0F01BD0</vt:lpwstr>
  </property>
</Properties>
</file>